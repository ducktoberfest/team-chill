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1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0242B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10242B"/>
                </a:solidFill>
                <a:latin typeface="+mn-lt"/>
              </a:rPr>
              <a:t>Test accuracy, % (held-out set)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Gemma 3 1B (base)</c:v>
                </c:pt>
              </c:strCache>
            </c:strRef>
          </c:tx>
          <c:spPr>
            <a:solidFill>
              <a:srgbClr val="9AA5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Category</c:v>
                  </c:pt>
                  <c:pt idx="1">
                    <c:v>Urgency</c:v>
                  </c:pt>
                  <c:pt idx="2">
                    <c:v>Sentiment</c:v>
                  </c:pt>
                  <c:pt idx="3">
                    <c:v>Resolved</c:v>
                  </c:pt>
                  <c:pt idx="4">
                    <c:v>Needs human</c:v>
                  </c:pt>
                  <c:pt idx="5">
                    <c:v>Team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</c:v>
                </c:pt>
                <c:pt idx="1">
                  <c:v>25</c:v>
                </c:pt>
                <c:pt idx="2">
                  <c:v>33</c:v>
                </c:pt>
                <c:pt idx="3">
                  <c:v>45</c:v>
                </c:pt>
                <c:pt idx="4">
                  <c:v>48</c:v>
                </c:pt>
                <c:pt idx="5">
                  <c:v>28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Gemma 3 1B + LoRA (ours)</c:v>
                </c:pt>
              </c:strCache>
            </c:strRef>
          </c:tx>
          <c:spPr>
            <a:solidFill>
              <a:srgbClr val="0B7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Category</c:v>
                  </c:pt>
                  <c:pt idx="1">
                    <c:v>Urgency</c:v>
                  </c:pt>
                  <c:pt idx="2">
                    <c:v>Sentiment</c:v>
                  </c:pt>
                  <c:pt idx="3">
                    <c:v>Resolved</c:v>
                  </c:pt>
                  <c:pt idx="4">
                    <c:v>Needs human</c:v>
                  </c:pt>
                  <c:pt idx="5">
                    <c:v>Team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</c:v>
                </c:pt>
                <c:pt idx="1">
                  <c:v>23</c:v>
                </c:pt>
                <c:pt idx="2">
                  <c:v>73</c:v>
                </c:pt>
                <c:pt idx="3">
                  <c:v>75</c:v>
                </c:pt>
                <c:pt idx="4">
                  <c:v>68</c:v>
                </c:pt>
                <c:pt idx="5">
                  <c:v>65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Gemma 4 26B (API)</c:v>
                </c:pt>
              </c:strCache>
            </c:strRef>
          </c:tx>
          <c:spPr>
            <a:solidFill>
              <a:srgbClr val="F9731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0242B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Category</c:v>
                  </c:pt>
                  <c:pt idx="1">
                    <c:v>Urgency</c:v>
                  </c:pt>
                  <c:pt idx="2">
                    <c:v>Sentiment</c:v>
                  </c:pt>
                  <c:pt idx="3">
                    <c:v>Resolved</c:v>
                  </c:pt>
                  <c:pt idx="4">
                    <c:v>Needs human</c:v>
                  </c:pt>
                  <c:pt idx="5">
                    <c:v>Team</c:v>
                  </c:pt>
                </c:lvl>
              </c:multiLvlStrCache>
            </c:multiLvl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83</c:v>
                </c:pt>
                <c:pt idx="1">
                  <c:v>48</c:v>
                </c:pt>
                <c:pt idx="2">
                  <c:v>70</c:v>
                </c:pt>
                <c:pt idx="3">
                  <c:v>93</c:v>
                </c:pt>
                <c:pt idx="4">
                  <c:v>85</c:v>
                </c:pt>
                <c:pt idx="5">
                  <c:v>78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0242B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F6D6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6350" cap="flat">
              <a:solidFill>
                <a:srgbClr val="E3DED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F6D6B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200">
              <a:solidFill>
                <a:srgbClr val="1024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ChillDesk is an AI support agent for an online store called Mallard. Its brain is open-weight Gemma 4. Chat, photos and voice calls live in one place, and the follow-up work after each conversation happens automatically.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problem: support questions repeat, photos and calls are checked by hand, and work remains after each conversation. For a small store that is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Aysu does four things: real actions through tools, understanding photos, voice calls with a 3D avatar, and automation after each conversation.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Live scenario: the customer sends a photo of cracked headphones. Gemma 4 describes the photo, finds the order and opens a replacement through the policy engine. Every step is visible in the chat.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Voice: ElevenLabs recognizes and speaks, but Gemma 4 writes the answer. The avatar moves its lips to character timings, and the tone tag Gemma picks changes both the voice and the face.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When a conversation ends, or goes quiet for 10 seconds, Gemma 4 analyzes it: summary, priority, sentiment, an auto-ticket if needed, and a ready follow-up email. Everything is written to Neon and shown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browser sends chat over SSE and voice through ElevenLabs, which calls our OpenAI-compatible endpoint. The backend runs the Gemma 4 agent loop, tools write to Neon, and the knowledge base is searched with EmbeddingGemma and pgvector. If the Gemini quota runs out, local Gemma 4 takes over.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Goal: run conversation analysis offline on a small open model. A teacher model wrote the data, but we chose the labels up front, so the correct answers are known exactly.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held-out set: the same 1B model before and after fine-tuning, plus 26-billion-parameter Gemma 4 zero-shot. The fine-tuned small model learned our labelling rules and runs locally, offline.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AI layer is the open-weight Gemma family. The code is MIT; the README lists the models, licenses and how to run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Thank you. Next, the live demo: a call to Aysu, a damaged-product photo and the automatic analysis on the dashboard.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DARK_TITLE-image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image" Target="../media/LIGHT_CONTENT-image-2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image" Target="../media/DARK_CONTENT-image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TITLE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6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6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li/Desktop/team-Chill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_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ali/Desktop/team-Chill/deck/asset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01400" y="384048"/>
            <a:ext cx="457200" cy="457200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4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/ppt/charts/chart1.xml"/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image" Target="../media/image-10-7.png"/><Relationship Id="rId8" Type="http://schemas.openxmlformats.org/officeDocument/2006/relationships/image" Target="../media/image-10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0" y="-914400"/>
            <a:ext cx="3291840" cy="32918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5715000"/>
            <a:ext cx="1371600" cy="1371600"/>
          </a:xfrm>
          <a:prstGeom prst="rect">
            <a:avLst/>
          </a:prstGeom>
        </p:spPr>
      </p:pic>
      <p:pic>
        <p:nvPicPr>
          <p:cNvPr id="4" name="Image 2" descr="/home/ali/Desktop/team-Chill/deck/assets/ripples-dar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6035040" y="1920240"/>
            <a:ext cx="6035040" cy="6035040"/>
          </a:xfrm>
          <a:prstGeom prst="rect">
            <a:avLst/>
          </a:prstGeom>
        </p:spPr>
      </p:pic>
      <p:pic>
        <p:nvPicPr>
          <p:cNvPr id="5" name="anim_logo" descr="/home/ali/Desktop/team-Chill/deck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601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ChillDesk</a:t>
            </a:r>
            <a:endParaRPr lang="en-US" sz="6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An open-weight Gemma 4 AI support agent for online stores</a:t>
            </a:r>
            <a:endParaRPr lang="en-US" sz="2200" dirty="0"/>
          </a:p>
        </p:txBody>
      </p:sp>
      <p:sp>
        <p:nvSpPr>
          <p:cNvPr id="8" name="anim_chip0"/>
          <p:cNvSpPr/>
          <p:nvPr/>
        </p:nvSpPr>
        <p:spPr>
          <a:xfrm>
            <a:off x="731520" y="4800600"/>
            <a:ext cx="2331720" cy="438912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9" name="anim_chipt0"/>
          <p:cNvSpPr txBox="1"/>
          <p:nvPr/>
        </p:nvSpPr>
        <p:spPr>
          <a:xfrm>
            <a:off x="731520" y="4800600"/>
            <a:ext cx="2331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Best Use of Gemma 4</a:t>
            </a:r>
            <a:endParaRPr lang="en-US" sz="1400" dirty="0"/>
          </a:p>
        </p:txBody>
      </p:sp>
      <p:sp>
        <p:nvSpPr>
          <p:cNvPr id="10" name="anim_chip1"/>
          <p:cNvSpPr/>
          <p:nvPr/>
        </p:nvSpPr>
        <p:spPr>
          <a:xfrm>
            <a:off x="3246120" y="4800600"/>
            <a:ext cx="2743200" cy="438912"/>
          </a:xfrm>
          <a:prstGeom prst="roundRect">
            <a:avLst>
              <a:gd name="adj" fmla="val 50000"/>
            </a:avLst>
          </a:prstGeom>
          <a:solidFill>
            <a:schemeClr val="accent3">
              <a:alpha val="0"/>
            </a:schemeClr>
          </a:solidFill>
          <a:ln w="15875">
            <a:solidFill>
              <a:schemeClr val="accent3"/>
            </a:solidFill>
            <a:prstDash val="solid"/>
          </a:ln>
        </p:spPr>
      </p:sp>
      <p:sp>
        <p:nvSpPr>
          <p:cNvPr id="11" name="anim_chipt1"/>
          <p:cNvSpPr txBox="1"/>
          <p:nvPr/>
        </p:nvSpPr>
        <p:spPr>
          <a:xfrm>
            <a:off x="3246120" y="480060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Best Open-Source AI Project</a:t>
            </a:r>
            <a:endParaRPr lang="en-US" sz="1400" dirty="0"/>
          </a:p>
        </p:txBody>
      </p:sp>
      <p:sp>
        <p:nvSpPr>
          <p:cNvPr id="12" name="anim_team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team-Chill · Ducktoberfest Baku 2026 · Hacktoberfest Hack Day</a:t>
            </a:r>
            <a:endParaRPr lang="en-US" sz="1400" dirty="0"/>
          </a:p>
        </p:txBody>
      </p:sp>
      <p:pic>
        <p:nvPicPr>
          <p:cNvPr id="13" name="anim_site" descr="/home/ali/Desktop/team-Chill/deck/assets/01-hero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1143000"/>
            <a:ext cx="5257800" cy="2594670"/>
          </a:xfrm>
          <a:prstGeom prst="rect">
            <a:avLst/>
          </a:prstGeom>
        </p:spPr>
      </p:pic>
      <p:pic>
        <p:nvPicPr>
          <p:cNvPr id="14" name="anim_site2" descr="/home/ali/Desktop/team-Chill/deck/assets/02-products-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9520" y="3520440"/>
            <a:ext cx="4206240" cy="207573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0" y="4846320"/>
            <a:ext cx="2377440" cy="23774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97280" y="-82296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Support is slow, costly and scattered</a:t>
            </a:r>
            <a:endParaRPr lang="en-US" sz="3600" dirty="0"/>
          </a:p>
        </p:txBody>
      </p:sp>
      <p:sp>
        <p:nvSpPr>
          <p:cNvPr id="5" name="anim_card0"/>
          <p:cNvSpPr/>
          <p:nvPr/>
        </p:nvSpPr>
        <p:spPr>
          <a:xfrm>
            <a:off x="64008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ic0_bg"/>
          <p:cNvSpPr/>
          <p:nvPr/>
        </p:nvSpPr>
        <p:spPr>
          <a:xfrm>
            <a:off x="100584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anim_ic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6774" y="2126894"/>
            <a:ext cx="409651" cy="409651"/>
          </a:xfrm>
          <a:prstGeom prst="rect">
            <a:avLst/>
          </a:prstGeom>
        </p:spPr>
      </p:pic>
      <p:sp>
        <p:nvSpPr>
          <p:cNvPr id="8" name="anim_h0"/>
          <p:cNvSpPr txBox="1"/>
          <p:nvPr/>
        </p:nvSpPr>
        <p:spPr>
          <a:xfrm>
            <a:off x="100584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24/7 questions</a:t>
            </a:r>
            <a:endParaRPr lang="en-US" sz="2200" dirty="0"/>
          </a:p>
        </p:txBody>
      </p:sp>
      <p:sp>
        <p:nvSpPr>
          <p:cNvPr id="9" name="anim_p0"/>
          <p:cNvSpPr txBox="1"/>
          <p:nvPr/>
        </p:nvSpPr>
        <p:spPr>
          <a:xfrm>
            <a:off x="100584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“Where is my order?”, “when do I get my money back?” The same questions repeat day and night while customers wait in a queue.</a:t>
            </a:r>
            <a:endParaRPr lang="en-US" sz="1500" dirty="0"/>
          </a:p>
        </p:txBody>
      </p:sp>
      <p:sp>
        <p:nvSpPr>
          <p:cNvPr id="10" name="anim_card1"/>
          <p:cNvSpPr/>
          <p:nvPr/>
        </p:nvSpPr>
        <p:spPr>
          <a:xfrm>
            <a:off x="434340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1" name="anim_ic1_bg"/>
          <p:cNvSpPr/>
          <p:nvPr/>
        </p:nvSpPr>
        <p:spPr>
          <a:xfrm>
            <a:off x="4709160" y="196596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nim_ic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70094" y="2126894"/>
            <a:ext cx="409651" cy="409651"/>
          </a:xfrm>
          <a:prstGeom prst="rect">
            <a:avLst/>
          </a:prstGeom>
        </p:spPr>
      </p:pic>
      <p:sp>
        <p:nvSpPr>
          <p:cNvPr id="13" name="anim_h1"/>
          <p:cNvSpPr txBox="1"/>
          <p:nvPr/>
        </p:nvSpPr>
        <p:spPr>
          <a:xfrm>
            <a:off x="470916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Manual checks</a:t>
            </a:r>
            <a:endParaRPr lang="en-US" sz="2200" dirty="0"/>
          </a:p>
        </p:txBody>
      </p:sp>
      <p:sp>
        <p:nvSpPr>
          <p:cNvPr id="14" name="anim_p1"/>
          <p:cNvSpPr txBox="1"/>
          <p:nvPr/>
        </p:nvSpPr>
        <p:spPr>
          <a:xfrm>
            <a:off x="470916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A damaged-product photo, a phone call, a receipt: an operator checks each one and decides by hand.</a:t>
            </a:r>
            <a:endParaRPr lang="en-US" sz="1500" dirty="0"/>
          </a:p>
        </p:txBody>
      </p:sp>
      <p:sp>
        <p:nvSpPr>
          <p:cNvPr id="15" name="anim_card2"/>
          <p:cNvSpPr/>
          <p:nvPr/>
        </p:nvSpPr>
        <p:spPr>
          <a:xfrm>
            <a:off x="8046720" y="1600200"/>
            <a:ext cx="3429000" cy="3931920"/>
          </a:xfrm>
          <a:prstGeom prst="roundRect">
            <a:avLst>
              <a:gd name="adj" fmla="val 58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6" name="anim_ic2_bg"/>
          <p:cNvSpPr/>
          <p:nvPr/>
        </p:nvSpPr>
        <p:spPr>
          <a:xfrm>
            <a:off x="8412480" y="1965960"/>
            <a:ext cx="731520" cy="73152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7" name="anim_ic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73414" y="2126894"/>
            <a:ext cx="409651" cy="409651"/>
          </a:xfrm>
          <a:prstGeom prst="rect">
            <a:avLst/>
          </a:prstGeom>
        </p:spPr>
      </p:pic>
      <p:sp>
        <p:nvSpPr>
          <p:cNvPr id="18" name="anim_h2"/>
          <p:cNvSpPr txBox="1"/>
          <p:nvPr/>
        </p:nvSpPr>
        <p:spPr>
          <a:xfrm>
            <a:off x="8412480" y="29260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Manual wrap-up</a:t>
            </a:r>
            <a:endParaRPr lang="en-US" sz="2200" dirty="0"/>
          </a:p>
        </p:txBody>
      </p:sp>
      <p:sp>
        <p:nvSpPr>
          <p:cNvPr id="19" name="anim_p2"/>
          <p:cNvSpPr txBox="1"/>
          <p:nvPr/>
        </p:nvSpPr>
        <p:spPr>
          <a:xfrm>
            <a:off x="8412480" y="3566160"/>
            <a:ext cx="27432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Summary, category, ticket and a follow-up email take minutes after every conversation.</a:t>
            </a:r>
            <a:endParaRPr lang="en-US" sz="1500" dirty="0"/>
          </a:p>
        </p:txBody>
      </p:sp>
      <p:sp>
        <p:nvSpPr>
          <p:cNvPr id="20" name="anim_punch"/>
          <p:cNvSpPr txBox="1"/>
          <p:nvPr/>
        </p:nvSpPr>
        <p:spPr>
          <a:xfrm>
            <a:off x="640080" y="580644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i="1" dirty="0">
                <a:solidFill>
                  <a:schemeClr val="accent1"/>
                </a:solidFill>
              </a:rPr>
              <a:t>A small store can’t afford a 24/7 support team.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64240" y="3291840"/>
            <a:ext cx="1737360" cy="173736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6240" y="-118872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Meet Aysu</a:t>
            </a:r>
            <a:endParaRPr lang="en-US" sz="3600" dirty="0"/>
          </a:p>
        </p:txBody>
      </p:sp>
      <p:sp>
        <p:nvSpPr>
          <p:cNvPr id="5" name="anim_f0_bg"/>
          <p:cNvSpPr/>
          <p:nvPr/>
        </p:nvSpPr>
        <p:spPr>
          <a:xfrm>
            <a:off x="640080" y="146304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6" name="anim_f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0898" y="1603858"/>
            <a:ext cx="358445" cy="358445"/>
          </a:xfrm>
          <a:prstGeom prst="rect">
            <a:avLst/>
          </a:prstGeom>
        </p:spPr>
      </p:pic>
      <p:sp>
        <p:nvSpPr>
          <p:cNvPr id="7" name="anim_fh0"/>
          <p:cNvSpPr txBox="1"/>
          <p:nvPr/>
        </p:nvSpPr>
        <p:spPr>
          <a:xfrm>
            <a:off x="1463040" y="1444752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Chat that takes action</a:t>
            </a:r>
            <a:endParaRPr lang="en-US" sz="2000" dirty="0"/>
          </a:p>
        </p:txBody>
      </p:sp>
      <p:sp>
        <p:nvSpPr>
          <p:cNvPr id="8" name="anim_fp0"/>
          <p:cNvSpPr txBox="1"/>
          <p:nvPr/>
        </p:nvSpPr>
        <p:spPr>
          <a:xfrm>
            <a:off x="1463040" y="1847088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Gemma 4 function calling: finds and tracks orders, opens returns and tickets</a:t>
            </a:r>
            <a:endParaRPr lang="en-US" sz="1400" dirty="0"/>
          </a:p>
        </p:txBody>
      </p:sp>
      <p:sp>
        <p:nvSpPr>
          <p:cNvPr id="9" name="anim_f1_bg"/>
          <p:cNvSpPr/>
          <p:nvPr/>
        </p:nvSpPr>
        <p:spPr>
          <a:xfrm>
            <a:off x="640080" y="2633472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anim_f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898" y="2774290"/>
            <a:ext cx="358445" cy="358445"/>
          </a:xfrm>
          <a:prstGeom prst="rect">
            <a:avLst/>
          </a:prstGeom>
        </p:spPr>
      </p:pic>
      <p:sp>
        <p:nvSpPr>
          <p:cNvPr id="11" name="anim_fh1"/>
          <p:cNvSpPr txBox="1"/>
          <p:nvPr/>
        </p:nvSpPr>
        <p:spPr>
          <a:xfrm>
            <a:off x="1463040" y="2615184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Sees photos</a:t>
            </a:r>
            <a:endParaRPr lang="en-US" sz="2000" dirty="0"/>
          </a:p>
        </p:txBody>
      </p:sp>
      <p:sp>
        <p:nvSpPr>
          <p:cNvPr id="12" name="anim_fp1"/>
          <p:cNvSpPr txBox="1"/>
          <p:nvPr/>
        </p:nvSpPr>
        <p:spPr>
          <a:xfrm>
            <a:off x="1463040" y="3017520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Damaged-product photo → Gemma 4 vision → decision</a:t>
            </a:r>
            <a:endParaRPr lang="en-US" sz="1400" dirty="0"/>
          </a:p>
        </p:txBody>
      </p:sp>
      <p:sp>
        <p:nvSpPr>
          <p:cNvPr id="13" name="anim_f2_bg"/>
          <p:cNvSpPr/>
          <p:nvPr/>
        </p:nvSpPr>
        <p:spPr>
          <a:xfrm>
            <a:off x="640080" y="3803904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4" name="anim_f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0898" y="3944722"/>
            <a:ext cx="358445" cy="358445"/>
          </a:xfrm>
          <a:prstGeom prst="rect">
            <a:avLst/>
          </a:prstGeom>
        </p:spPr>
      </p:pic>
      <p:sp>
        <p:nvSpPr>
          <p:cNvPr id="15" name="anim_fh2"/>
          <p:cNvSpPr txBox="1"/>
          <p:nvPr/>
        </p:nvSpPr>
        <p:spPr>
          <a:xfrm>
            <a:off x="1463040" y="3785616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Voice calls, 3D Aysu</a:t>
            </a:r>
            <a:endParaRPr lang="en-US" sz="2000" dirty="0"/>
          </a:p>
        </p:txBody>
      </p:sp>
      <p:sp>
        <p:nvSpPr>
          <p:cNvPr id="16" name="anim_fp2"/>
          <p:cNvSpPr txBox="1"/>
          <p:nvPr/>
        </p:nvSpPr>
        <p:spPr>
          <a:xfrm>
            <a:off x="1463040" y="4187952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Lip sync and tone-driven emotion, in Azerbaijani</a:t>
            </a:r>
            <a:endParaRPr lang="en-US" sz="1400" dirty="0"/>
          </a:p>
        </p:txBody>
      </p:sp>
      <p:sp>
        <p:nvSpPr>
          <p:cNvPr id="17" name="anim_f3_bg"/>
          <p:cNvSpPr/>
          <p:nvPr/>
        </p:nvSpPr>
        <p:spPr>
          <a:xfrm>
            <a:off x="640080" y="4974336"/>
            <a:ext cx="640080" cy="640080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8" name="anim_f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0898" y="5115154"/>
            <a:ext cx="358445" cy="358445"/>
          </a:xfrm>
          <a:prstGeom prst="rect">
            <a:avLst/>
          </a:prstGeom>
        </p:spPr>
      </p:pic>
      <p:sp>
        <p:nvSpPr>
          <p:cNvPr id="19" name="anim_fh3"/>
          <p:cNvSpPr txBox="1"/>
          <p:nvPr/>
        </p:nvSpPr>
        <p:spPr>
          <a:xfrm>
            <a:off x="1463040" y="49560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1"/>
                </a:solidFill>
              </a:rPr>
              <a:t>Automation</a:t>
            </a:r>
            <a:endParaRPr lang="en-US" sz="2000" dirty="0"/>
          </a:p>
        </p:txBody>
      </p:sp>
      <p:sp>
        <p:nvSpPr>
          <p:cNvPr id="20" name="anim_fp3"/>
          <p:cNvSpPr txBox="1"/>
          <p:nvPr/>
        </p:nvSpPr>
        <p:spPr>
          <a:xfrm>
            <a:off x="1463040" y="5358384"/>
            <a:ext cx="4023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Summary, priority, auto-ticket, follow-up email</a:t>
            </a:r>
            <a:endParaRPr lang="en-US" sz="1400" dirty="0"/>
          </a:p>
        </p:txBody>
      </p:sp>
      <p:pic>
        <p:nvPicPr>
          <p:cNvPr id="21" name="Image 6" descr="/home/ali/Desktop/team-Chill/deck/assets/ripples-light.png">    </p:cNvPr>
          <p:cNvPicPr>
            <a:picLocks noChangeAspect="1"/>
          </p:cNvPicPr>
          <p:nvPr/>
        </p:nvPicPr>
        <p:blipFill>
          <a:blip r:embed="rId7">
            <a:alphaModFix amt="85000"/>
          </a:blip>
          <a:stretch>
            <a:fillRect/>
          </a:stretch>
        </p:blipFill>
        <p:spPr>
          <a:xfrm>
            <a:off x="5989320" y="2377440"/>
            <a:ext cx="5852160" cy="5852160"/>
          </a:xfrm>
          <a:prstGeom prst="rect">
            <a:avLst/>
          </a:prstGeom>
        </p:spPr>
      </p:pic>
      <p:pic>
        <p:nvPicPr>
          <p:cNvPr id="22" name="anim_aysu" descr="/home/ali/Desktop/team-Chill/deck/assets/07-aysu-portrait-r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86600" y="1280160"/>
            <a:ext cx="3611880" cy="4303517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23" name="anim_badge"/>
          <p:cNvSpPr/>
          <p:nvPr/>
        </p:nvSpPr>
        <p:spPr>
          <a:xfrm>
            <a:off x="7315200" y="5532120"/>
            <a:ext cx="3154680" cy="502920"/>
          </a:xfrm>
          <a:prstGeom prst="roundRect">
            <a:avLst>
              <a:gd name="adj" fmla="val 49091"/>
            </a:avLst>
          </a:prstGeom>
          <a:solidFill>
            <a:schemeClr val="bg1"/>
          </a:solidFill>
          <a:ln w="12700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24" name="anim_badget"/>
          <p:cNvSpPr txBox="1"/>
          <p:nvPr/>
        </p:nvSpPr>
        <p:spPr>
          <a:xfrm>
            <a:off x="7315200" y="55321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Aysu</a:t>
            </a:r>
            <a:pPr algn="ctr"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  ·  Mallard support agent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05840" y="5120640"/>
            <a:ext cx="2377440" cy="237744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72800" y="-731520"/>
            <a:ext cx="2011680" cy="20116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Send a photo, get it solved</a:t>
            </a:r>
            <a:endParaRPr lang="en-US" sz="3600" dirty="0"/>
          </a:p>
        </p:txBody>
      </p:sp>
      <p:pic>
        <p:nvPicPr>
          <p:cNvPr id="5" name="anim_photo" descr="/home/ali/Desktop/team-Chill/deck/assets/damaged-headphones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554480"/>
            <a:ext cx="3017520" cy="2010423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6" name="anim_photocap"/>
          <p:cNvSpPr txBox="1"/>
          <p:nvPr/>
        </p:nvSpPr>
        <p:spPr>
          <a:xfrm>
            <a:off x="640080" y="365760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The photo the customer sent</a:t>
            </a:r>
            <a:endParaRPr lang="en-US" sz="1200" dirty="0"/>
          </a:p>
        </p:txBody>
      </p:sp>
      <p:pic>
        <p:nvPicPr>
          <p:cNvPr id="7" name="anim_chat" descr="/home/ali/Desktop/team-Chill/deck/assets/03-chat-photo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1280160"/>
            <a:ext cx="3017520" cy="5080344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8" name="anim_n0"/>
          <p:cNvSpPr/>
          <p:nvPr/>
        </p:nvSpPr>
        <p:spPr>
          <a:xfrm>
            <a:off x="7406640" y="1463040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9" name="anim_nt0"/>
          <p:cNvSpPr txBox="1"/>
          <p:nvPr/>
        </p:nvSpPr>
        <p:spPr>
          <a:xfrm>
            <a:off x="740664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1</a:t>
            </a:r>
            <a:endParaRPr lang="en-US" sz="1600" dirty="0"/>
          </a:p>
        </p:txBody>
      </p:sp>
      <p:sp>
        <p:nvSpPr>
          <p:cNvPr id="10" name="anim_sh0"/>
          <p:cNvSpPr txBox="1"/>
          <p:nvPr/>
        </p:nvSpPr>
        <p:spPr>
          <a:xfrm>
            <a:off x="8046720" y="1444752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Gemma 4 reads the photo</a:t>
            </a:r>
            <a:endParaRPr lang="en-US" sz="1700" dirty="0"/>
          </a:p>
        </p:txBody>
      </p:sp>
      <p:sp>
        <p:nvSpPr>
          <p:cNvPr id="11" name="anim_sp0"/>
          <p:cNvSpPr txBox="1"/>
          <p:nvPr/>
        </p:nvSpPr>
        <p:spPr>
          <a:xfrm>
            <a:off x="8046720" y="18288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“crack on the left ear cup” → photo_assessment</a:t>
            </a:r>
            <a:endParaRPr lang="en-US" sz="1300" dirty="0"/>
          </a:p>
        </p:txBody>
      </p:sp>
      <p:sp>
        <p:nvSpPr>
          <p:cNvPr id="12" name="anim_n1"/>
          <p:cNvSpPr/>
          <p:nvPr/>
        </p:nvSpPr>
        <p:spPr>
          <a:xfrm>
            <a:off x="7406640" y="2578608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3" name="anim_nt1"/>
          <p:cNvSpPr txBox="1"/>
          <p:nvPr/>
        </p:nvSpPr>
        <p:spPr>
          <a:xfrm>
            <a:off x="7406640" y="25786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anim_sh1"/>
          <p:cNvSpPr txBox="1"/>
          <p:nvPr/>
        </p:nvSpPr>
        <p:spPr>
          <a:xfrm>
            <a:off x="8046720" y="2560320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list_orders → get_order</a:t>
            </a:r>
            <a:endParaRPr lang="en-US" sz="1700" dirty="0"/>
          </a:p>
        </p:txBody>
      </p:sp>
      <p:sp>
        <p:nvSpPr>
          <p:cNvPr id="15" name="anim_sp1"/>
          <p:cNvSpPr txBox="1"/>
          <p:nvPr/>
        </p:nvSpPr>
        <p:spPr>
          <a:xfrm>
            <a:off x="8046720" y="2944368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Finds Leyla’s order ML-1042 in Neon</a:t>
            </a:r>
            <a:endParaRPr lang="en-US" sz="1300" dirty="0"/>
          </a:p>
        </p:txBody>
      </p:sp>
      <p:sp>
        <p:nvSpPr>
          <p:cNvPr id="16" name="anim_n2"/>
          <p:cNvSpPr/>
          <p:nvPr/>
        </p:nvSpPr>
        <p:spPr>
          <a:xfrm>
            <a:off x="7406640" y="3694176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anim_nt2"/>
          <p:cNvSpPr txBox="1"/>
          <p:nvPr/>
        </p:nvSpPr>
        <p:spPr>
          <a:xfrm>
            <a:off x="7406640" y="369417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anim_sh2"/>
          <p:cNvSpPr txBox="1"/>
          <p:nvPr/>
        </p:nvSpPr>
        <p:spPr>
          <a:xfrm>
            <a:off x="8046720" y="3675888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create_return</a:t>
            </a:r>
            <a:endParaRPr lang="en-US" sz="1700" dirty="0"/>
          </a:p>
        </p:txBody>
      </p:sp>
      <p:sp>
        <p:nvSpPr>
          <p:cNvPr id="19" name="anim_sp2"/>
          <p:cNvSpPr txBox="1"/>
          <p:nvPr/>
        </p:nvSpPr>
        <p:spPr>
          <a:xfrm>
            <a:off x="8046720" y="4059936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Policy engine: 14 days + damage = free replacement</a:t>
            </a:r>
            <a:endParaRPr lang="en-US" sz="1300" dirty="0"/>
          </a:p>
        </p:txBody>
      </p:sp>
      <p:sp>
        <p:nvSpPr>
          <p:cNvPr id="20" name="anim_n3"/>
          <p:cNvSpPr/>
          <p:nvPr/>
        </p:nvSpPr>
        <p:spPr>
          <a:xfrm>
            <a:off x="7406640" y="4809744"/>
            <a:ext cx="457200" cy="45720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1" name="anim_nt3"/>
          <p:cNvSpPr txBox="1"/>
          <p:nvPr/>
        </p:nvSpPr>
        <p:spPr>
          <a:xfrm>
            <a:off x="7406640" y="48097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4</a:t>
            </a:r>
            <a:endParaRPr lang="en-US" sz="1600" dirty="0"/>
          </a:p>
        </p:txBody>
      </p:sp>
      <p:sp>
        <p:nvSpPr>
          <p:cNvPr id="22" name="anim_sh3"/>
          <p:cNvSpPr txBox="1"/>
          <p:nvPr/>
        </p:nvSpPr>
        <p:spPr>
          <a:xfrm>
            <a:off x="8046720" y="4791456"/>
            <a:ext cx="3566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Answer + return RT-…</a:t>
            </a:r>
            <a:endParaRPr lang="en-US" sz="1700" dirty="0"/>
          </a:p>
        </p:txBody>
      </p:sp>
      <p:sp>
        <p:nvSpPr>
          <p:cNvPr id="23" name="anim_sp3"/>
          <p:cNvSpPr txBox="1"/>
          <p:nvPr/>
        </p:nvSpPr>
        <p:spPr>
          <a:xfrm>
            <a:off x="8046720" y="5175504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 courier swaps the old one for a new one</a:t>
            </a:r>
            <a:endParaRPr lang="en-US" sz="1300" dirty="0"/>
          </a:p>
        </p:txBody>
      </p:sp>
      <p:sp>
        <p:nvSpPr>
          <p:cNvPr id="24" name="anim_took"/>
          <p:cNvSpPr txBox="1"/>
          <p:nvPr/>
        </p:nvSpPr>
        <p:spPr>
          <a:xfrm>
            <a:off x="640080" y="4206240"/>
            <a:ext cx="3017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3"/>
                </a:solidFill>
              </a:rPr>
              <a:t>≈13 seconds · 4 tool calls · 0 operators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5394960"/>
            <a:ext cx="2194560" cy="219456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0" y="731520"/>
            <a:ext cx="1463040" cy="14630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Just like a call: voice Aysu</a:t>
            </a:r>
            <a:endParaRPr lang="en-US" sz="3600" dirty="0"/>
          </a:p>
        </p:txBody>
      </p:sp>
      <p:pic>
        <p:nvPicPr>
          <p:cNvPr id="5" name="anim_ring" descr="/home/ali/Desktop/team-Chill/deck/assets/04-call-ringing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371600"/>
            <a:ext cx="2606040" cy="4116082"/>
          </a:xfrm>
          <a:prstGeom prst="rect">
            <a:avLst/>
          </a:prstGeom>
        </p:spPr>
      </p:pic>
      <p:pic>
        <p:nvPicPr>
          <p:cNvPr id="6" name="anim_live" descr="/home/ali/Desktop/team-Chill/deck/assets/05-call-aysu-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1371600"/>
            <a:ext cx="2971800" cy="4693778"/>
          </a:xfrm>
          <a:prstGeom prst="rect">
            <a:avLst/>
          </a:prstGeom>
        </p:spPr>
      </p:pic>
      <p:sp>
        <p:nvSpPr>
          <p:cNvPr id="7" name="anim_v0_bg"/>
          <p:cNvSpPr/>
          <p:nvPr/>
        </p:nvSpPr>
        <p:spPr>
          <a:xfrm>
            <a:off x="6903720" y="1463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8" name="anim_v0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28444" y="1587764"/>
            <a:ext cx="317480" cy="317480"/>
          </a:xfrm>
          <a:prstGeom prst="rect">
            <a:avLst/>
          </a:prstGeom>
        </p:spPr>
      </p:pic>
      <p:sp>
        <p:nvSpPr>
          <p:cNvPr id="9" name="anim_vh0"/>
          <p:cNvSpPr txBox="1"/>
          <p:nvPr/>
        </p:nvSpPr>
        <p:spPr>
          <a:xfrm>
            <a:off x="7680960" y="1444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The brain is Gemma 4</a:t>
            </a:r>
            <a:endParaRPr lang="en-US" sz="1800" dirty="0"/>
          </a:p>
        </p:txBody>
      </p:sp>
      <p:sp>
        <p:nvSpPr>
          <p:cNvPr id="10" name="anim_vp0"/>
          <p:cNvSpPr txBox="1"/>
          <p:nvPr/>
        </p:nvSpPr>
        <p:spPr>
          <a:xfrm>
            <a:off x="7680960" y="1828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ElevenLabs does only STT/TTS; our Custom LLM endpoint writes the answer</a:t>
            </a:r>
            <a:endParaRPr lang="en-US" sz="1300" dirty="0"/>
          </a:p>
        </p:txBody>
      </p:sp>
      <p:sp>
        <p:nvSpPr>
          <p:cNvPr id="11" name="anim_v1_bg"/>
          <p:cNvSpPr/>
          <p:nvPr/>
        </p:nvSpPr>
        <p:spPr>
          <a:xfrm>
            <a:off x="6903720" y="2606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2" name="anim_v1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28444" y="2730764"/>
            <a:ext cx="317480" cy="317480"/>
          </a:xfrm>
          <a:prstGeom prst="rect">
            <a:avLst/>
          </a:prstGeom>
        </p:spPr>
      </p:pic>
      <p:sp>
        <p:nvSpPr>
          <p:cNvPr id="13" name="anim_vh1"/>
          <p:cNvSpPr txBox="1"/>
          <p:nvPr/>
        </p:nvSpPr>
        <p:spPr>
          <a:xfrm>
            <a:off x="7680960" y="2587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Character-level lip sync</a:t>
            </a:r>
            <a:endParaRPr lang="en-US" sz="1800" dirty="0"/>
          </a:p>
        </p:txBody>
      </p:sp>
      <p:sp>
        <p:nvSpPr>
          <p:cNvPr id="14" name="anim_vp1"/>
          <p:cNvSpPr txBox="1"/>
          <p:nvPr/>
        </p:nvSpPr>
        <p:spPr>
          <a:xfrm>
            <a:off x="7680960" y="2971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Per-character timing of every audio chunk + real loudness</a:t>
            </a:r>
            <a:endParaRPr lang="en-US" sz="1300" dirty="0"/>
          </a:p>
        </p:txBody>
      </p:sp>
      <p:sp>
        <p:nvSpPr>
          <p:cNvPr id="15" name="anim_v2_bg"/>
          <p:cNvSpPr/>
          <p:nvPr/>
        </p:nvSpPr>
        <p:spPr>
          <a:xfrm>
            <a:off x="6903720" y="374904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16" name="anim_v2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28444" y="3873764"/>
            <a:ext cx="317480" cy="317480"/>
          </a:xfrm>
          <a:prstGeom prst="rect">
            <a:avLst/>
          </a:prstGeom>
        </p:spPr>
      </p:pic>
      <p:sp>
        <p:nvSpPr>
          <p:cNvPr id="17" name="anim_vh2"/>
          <p:cNvSpPr txBox="1"/>
          <p:nvPr/>
        </p:nvSpPr>
        <p:spPr>
          <a:xfrm>
            <a:off x="7680960" y="3730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Emotion follows the tone</a:t>
            </a:r>
            <a:endParaRPr lang="en-US" sz="1800" dirty="0"/>
          </a:p>
        </p:txBody>
      </p:sp>
      <p:sp>
        <p:nvSpPr>
          <p:cNvPr id="18" name="anim_vp2"/>
          <p:cNvSpPr txBox="1"/>
          <p:nvPr/>
        </p:nvSpPr>
        <p:spPr>
          <a:xfrm>
            <a:off x="7680960" y="4114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[empathetically] changes both the voice and the face</a:t>
            </a:r>
            <a:endParaRPr lang="en-US" sz="1300" dirty="0"/>
          </a:p>
        </p:txBody>
      </p:sp>
      <p:sp>
        <p:nvSpPr>
          <p:cNvPr id="19" name="anim_v3_bg"/>
          <p:cNvSpPr/>
          <p:nvPr/>
        </p:nvSpPr>
        <p:spPr>
          <a:xfrm>
            <a:off x="6903720" y="489204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anim_v3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028444" y="5016764"/>
            <a:ext cx="317480" cy="317480"/>
          </a:xfrm>
          <a:prstGeom prst="rect">
            <a:avLst/>
          </a:prstGeom>
        </p:spPr>
      </p:pic>
      <p:sp>
        <p:nvSpPr>
          <p:cNvPr id="21" name="anim_vh3"/>
          <p:cNvSpPr txBox="1"/>
          <p:nvPr/>
        </p:nvSpPr>
        <p:spPr>
          <a:xfrm>
            <a:off x="7680960" y="4873752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Feels like a real call</a:t>
            </a:r>
            <a:endParaRPr lang="en-US" sz="1800" dirty="0"/>
          </a:p>
        </p:txBody>
      </p:sp>
      <p:sp>
        <p:nvSpPr>
          <p:cNvPr id="22" name="anim_vp3"/>
          <p:cNvSpPr txBox="1"/>
          <p:nvPr/>
        </p:nvSpPr>
        <p:spPr>
          <a:xfrm>
            <a:off x="7680960" y="525780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425 Hz ringback, Aysu appears when she picks up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0" y="530352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14400" y="2377440"/>
            <a:ext cx="1737360" cy="17373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The chat ends, the work gets done</a:t>
            </a:r>
            <a:endParaRPr lang="en-US" sz="3600" dirty="0"/>
          </a:p>
        </p:txBody>
      </p:sp>
      <p:pic>
        <p:nvPicPr>
          <p:cNvPr id="5" name="anim_dash" descr="/home/ali/Desktop/team-Chill/deck/assets/06-dashboard-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417320"/>
            <a:ext cx="7406640" cy="3655100"/>
          </a:xfrm>
          <a:prstGeom prst="rect">
            <a:avLst/>
          </a:prstGeom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pic>
      <p:sp>
        <p:nvSpPr>
          <p:cNvPr id="6" name="anim_jsoncard"/>
          <p:cNvSpPr/>
          <p:nvPr/>
        </p:nvSpPr>
        <p:spPr>
          <a:xfrm>
            <a:off x="8412480" y="1417320"/>
            <a:ext cx="3154680" cy="4343400"/>
          </a:xfrm>
          <a:prstGeom prst="roundRect">
            <a:avLst>
              <a:gd name="adj" fmla="val 637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7" name="anim_jsonh"/>
          <p:cNvSpPr txBox="1"/>
          <p:nvPr/>
        </p:nvSpPr>
        <p:spPr>
          <a:xfrm>
            <a:off x="8686800" y="16459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Gemma 4 → JSON</a:t>
            </a:r>
            <a:endParaRPr lang="en-US" sz="1800" dirty="0"/>
          </a:p>
        </p:txBody>
      </p:sp>
      <p:sp>
        <p:nvSpPr>
          <p:cNvPr id="8" name="anim_o0"/>
          <p:cNvSpPr/>
          <p:nvPr/>
        </p:nvSpPr>
        <p:spPr>
          <a:xfrm>
            <a:off x="8686800" y="2148840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" name="anim_ot0"/>
          <p:cNvSpPr txBox="1"/>
          <p:nvPr/>
        </p:nvSpPr>
        <p:spPr>
          <a:xfrm>
            <a:off x="8823960" y="214884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Summary</a:t>
            </a:r>
            <a:endParaRPr lang="en-US" sz="1200" dirty="0"/>
          </a:p>
        </p:txBody>
      </p:sp>
      <p:sp>
        <p:nvSpPr>
          <p:cNvPr id="10" name="anim_o1"/>
          <p:cNvSpPr/>
          <p:nvPr/>
        </p:nvSpPr>
        <p:spPr>
          <a:xfrm>
            <a:off x="8686800" y="2532888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1" name="anim_ot1"/>
          <p:cNvSpPr txBox="1"/>
          <p:nvPr/>
        </p:nvSpPr>
        <p:spPr>
          <a:xfrm>
            <a:off x="8823960" y="253288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Category</a:t>
            </a:r>
            <a:endParaRPr lang="en-US" sz="1200" dirty="0"/>
          </a:p>
        </p:txBody>
      </p:sp>
      <p:sp>
        <p:nvSpPr>
          <p:cNvPr id="12" name="anim_o2"/>
          <p:cNvSpPr/>
          <p:nvPr/>
        </p:nvSpPr>
        <p:spPr>
          <a:xfrm>
            <a:off x="8686800" y="2916936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3" name="anim_ot2"/>
          <p:cNvSpPr txBox="1"/>
          <p:nvPr/>
        </p:nvSpPr>
        <p:spPr>
          <a:xfrm>
            <a:off x="8823960" y="291693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Urgency</a:t>
            </a:r>
            <a:endParaRPr lang="en-US" sz="1200" dirty="0"/>
          </a:p>
        </p:txBody>
      </p:sp>
      <p:sp>
        <p:nvSpPr>
          <p:cNvPr id="14" name="anim_o3"/>
          <p:cNvSpPr/>
          <p:nvPr/>
        </p:nvSpPr>
        <p:spPr>
          <a:xfrm>
            <a:off x="8686800" y="3300984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5" name="anim_ot3"/>
          <p:cNvSpPr txBox="1"/>
          <p:nvPr/>
        </p:nvSpPr>
        <p:spPr>
          <a:xfrm>
            <a:off x="8823960" y="330098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Sentiment</a:t>
            </a:r>
            <a:endParaRPr lang="en-US" sz="1200" dirty="0"/>
          </a:p>
        </p:txBody>
      </p:sp>
      <p:sp>
        <p:nvSpPr>
          <p:cNvPr id="16" name="anim_o4"/>
          <p:cNvSpPr/>
          <p:nvPr/>
        </p:nvSpPr>
        <p:spPr>
          <a:xfrm>
            <a:off x="8686800" y="3685032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7" name="anim_ot4"/>
          <p:cNvSpPr txBox="1"/>
          <p:nvPr/>
        </p:nvSpPr>
        <p:spPr>
          <a:xfrm>
            <a:off x="8823960" y="3685032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Resolved?</a:t>
            </a:r>
            <a:endParaRPr lang="en-US" sz="1200" dirty="0"/>
          </a:p>
        </p:txBody>
      </p:sp>
      <p:sp>
        <p:nvSpPr>
          <p:cNvPr id="18" name="anim_o5"/>
          <p:cNvSpPr/>
          <p:nvPr/>
        </p:nvSpPr>
        <p:spPr>
          <a:xfrm>
            <a:off x="8686800" y="4069080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1">
              <a:alpha val="15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9" name="anim_ot5"/>
          <p:cNvSpPr txBox="1"/>
          <p:nvPr/>
        </p:nvSpPr>
        <p:spPr>
          <a:xfrm>
            <a:off x="8823960" y="4069080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Needs a human?</a:t>
            </a:r>
            <a:endParaRPr lang="en-US" sz="1200" dirty="0"/>
          </a:p>
        </p:txBody>
      </p:sp>
      <p:sp>
        <p:nvSpPr>
          <p:cNvPr id="20" name="anim_o6"/>
          <p:cNvSpPr/>
          <p:nvPr/>
        </p:nvSpPr>
        <p:spPr>
          <a:xfrm>
            <a:off x="8686800" y="4453128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1" name="anim_ot6"/>
          <p:cNvSpPr txBox="1"/>
          <p:nvPr/>
        </p:nvSpPr>
        <p:spPr>
          <a:xfrm>
            <a:off x="8823960" y="4453128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Auto-ticket</a:t>
            </a:r>
            <a:endParaRPr lang="en-US" sz="1200" dirty="0"/>
          </a:p>
        </p:txBody>
      </p:sp>
      <p:sp>
        <p:nvSpPr>
          <p:cNvPr id="22" name="anim_o7"/>
          <p:cNvSpPr/>
          <p:nvPr/>
        </p:nvSpPr>
        <p:spPr>
          <a:xfrm>
            <a:off x="8686800" y="4837176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3" name="anim_ot7"/>
          <p:cNvSpPr txBox="1"/>
          <p:nvPr/>
        </p:nvSpPr>
        <p:spPr>
          <a:xfrm>
            <a:off x="8823960" y="4837176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Follow-up email</a:t>
            </a:r>
            <a:endParaRPr lang="en-US" sz="1200" dirty="0"/>
          </a:p>
        </p:txBody>
      </p:sp>
      <p:sp>
        <p:nvSpPr>
          <p:cNvPr id="24" name="anim_o8"/>
          <p:cNvSpPr/>
          <p:nvPr/>
        </p:nvSpPr>
        <p:spPr>
          <a:xfrm>
            <a:off x="8686800" y="5221224"/>
            <a:ext cx="2606040" cy="310896"/>
          </a:xfrm>
          <a:prstGeom prst="roundRect">
            <a:avLst>
              <a:gd name="adj" fmla="val 50000"/>
            </a:avLst>
          </a:prstGeom>
          <a:solidFill>
            <a:schemeClr val="accent3">
              <a:alpha val="15000"/>
            </a:schemeClr>
          </a:solidFill>
          <a:ln w="9525">
            <a:solidFill>
              <a:schemeClr val="accent3">
                <a:alpha val="60000"/>
              </a:schemeClr>
            </a:solidFill>
            <a:prstDash val="solid"/>
          </a:ln>
        </p:spPr>
      </p:sp>
      <p:sp>
        <p:nvSpPr>
          <p:cNvPr id="25" name="anim_ot8"/>
          <p:cNvSpPr txBox="1"/>
          <p:nvPr/>
        </p:nvSpPr>
        <p:spPr>
          <a:xfrm>
            <a:off x="8823960" y="5221224"/>
            <a:ext cx="2377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3"/>
                </a:solidFill>
              </a:rPr>
              <a:t>KB gap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720" y="5577840"/>
            <a:ext cx="1645920" cy="164592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81360" y="-1097280"/>
            <a:ext cx="2194560" cy="219456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Architecture</a:t>
            </a:r>
            <a:endParaRPr lang="en-US" sz="3600" dirty="0"/>
          </a:p>
        </p:txBody>
      </p:sp>
      <p:sp>
        <p:nvSpPr>
          <p:cNvPr id="5" name="anim_a0"/>
          <p:cNvSpPr/>
          <p:nvPr/>
        </p:nvSpPr>
        <p:spPr>
          <a:xfrm>
            <a:off x="640080" y="1554480"/>
            <a:ext cx="29260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a0_t"/>
          <p:cNvSpPr txBox="1"/>
          <p:nvPr/>
        </p:nvSpPr>
        <p:spPr>
          <a:xfrm>
            <a:off x="777240" y="16642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Browser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Mallard store · Aysu widget · ChillDesk dashboard</a:t>
            </a:r>
            <a:endParaRPr lang="en-US" sz="1600" dirty="0"/>
          </a:p>
        </p:txBody>
      </p:sp>
      <p:sp>
        <p:nvSpPr>
          <p:cNvPr id="7" name="anim_a1"/>
          <p:cNvSpPr/>
          <p:nvPr/>
        </p:nvSpPr>
        <p:spPr>
          <a:xfrm>
            <a:off x="640080" y="3383280"/>
            <a:ext cx="2926080" cy="1097280"/>
          </a:xfrm>
          <a:prstGeom prst="roundRect">
            <a:avLst>
              <a:gd name="adj" fmla="val 15000"/>
            </a:avLst>
          </a:prstGeom>
          <a:solidFill>
            <a:schemeClr val="bg1"/>
          </a:solidFill>
          <a:ln w="22225">
            <a:solidFill>
              <a:schemeClr val="accent5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8" name="anim_a1_t"/>
          <p:cNvSpPr txBox="1"/>
          <p:nvPr/>
        </p:nvSpPr>
        <p:spPr>
          <a:xfrm>
            <a:off x="777240" y="3493008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ElevenLabs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STT (Scribe v2) · TTS · WebSocket</a:t>
            </a:r>
            <a:endParaRPr lang="en-US" sz="1600" dirty="0"/>
          </a:p>
        </p:txBody>
      </p:sp>
      <p:sp>
        <p:nvSpPr>
          <p:cNvPr id="9" name="anim_a2"/>
          <p:cNvSpPr/>
          <p:nvPr/>
        </p:nvSpPr>
        <p:spPr>
          <a:xfrm>
            <a:off x="4572000" y="2468880"/>
            <a:ext cx="3017520" cy="1188720"/>
          </a:xfrm>
          <a:prstGeom prst="roundRect">
            <a:avLst>
              <a:gd name="adj" fmla="val 13846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0" name="anim_a2_t"/>
          <p:cNvSpPr txBox="1"/>
          <p:nvPr/>
        </p:nvSpPr>
        <p:spPr>
          <a:xfrm>
            <a:off x="4709160" y="2578608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FastAPI backend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/api/chat (SSE) · /v1/chat/completions · automation</a:t>
            </a:r>
            <a:endParaRPr lang="en-US" sz="1600" dirty="0"/>
          </a:p>
        </p:txBody>
      </p:sp>
      <p:sp>
        <p:nvSpPr>
          <p:cNvPr id="11" name="anim_a3"/>
          <p:cNvSpPr/>
          <p:nvPr/>
        </p:nvSpPr>
        <p:spPr>
          <a:xfrm>
            <a:off x="8549640" y="1325880"/>
            <a:ext cx="3017520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 w="22225">
            <a:solidFill>
              <a:schemeClr val="accent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2" name="anim_a3_t"/>
          <p:cNvSpPr txBox="1"/>
          <p:nvPr/>
        </p:nvSpPr>
        <p:spPr>
          <a:xfrm>
            <a:off x="8686800" y="143560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Gemma 4 26B MoE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Gemini API · function calling · vision</a:t>
            </a:r>
            <a:endParaRPr lang="en-US" sz="1600" dirty="0"/>
          </a:p>
        </p:txBody>
      </p:sp>
      <p:sp>
        <p:nvSpPr>
          <p:cNvPr id="13" name="anim_a4"/>
          <p:cNvSpPr/>
          <p:nvPr/>
        </p:nvSpPr>
        <p:spPr>
          <a:xfrm>
            <a:off x="8549640" y="2606040"/>
            <a:ext cx="301752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22225">
            <a:solidFill>
              <a:schemeClr val="accent3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4" name="anim_a4_t"/>
          <p:cNvSpPr txBox="1"/>
          <p:nvPr/>
        </p:nvSpPr>
        <p:spPr>
          <a:xfrm>
            <a:off x="8686800" y="271576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Gemma 4 E4B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Ollama · local fallback (on 429)</a:t>
            </a:r>
            <a:endParaRPr lang="en-US" sz="1600" dirty="0"/>
          </a:p>
        </p:txBody>
      </p:sp>
      <p:sp>
        <p:nvSpPr>
          <p:cNvPr id="15" name="anim_a5"/>
          <p:cNvSpPr/>
          <p:nvPr/>
        </p:nvSpPr>
        <p:spPr>
          <a:xfrm>
            <a:off x="8549640" y="3749040"/>
            <a:ext cx="3017520" cy="1051560"/>
          </a:xfrm>
          <a:prstGeom prst="roundRect">
            <a:avLst>
              <a:gd name="adj" fmla="val 15652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6" name="anim_a5_t"/>
          <p:cNvSpPr txBox="1"/>
          <p:nvPr/>
        </p:nvSpPr>
        <p:spPr>
          <a:xfrm>
            <a:off x="8686800" y="3858768"/>
            <a:ext cx="2743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Neon Postgres + pgvector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customers, orders, returns, tickets, conversations</a:t>
            </a:r>
            <a:endParaRPr lang="en-US" sz="1600" dirty="0"/>
          </a:p>
        </p:txBody>
      </p:sp>
      <p:sp>
        <p:nvSpPr>
          <p:cNvPr id="17" name="anim_a6"/>
          <p:cNvSpPr/>
          <p:nvPr/>
        </p:nvSpPr>
        <p:spPr>
          <a:xfrm>
            <a:off x="4572000" y="4617720"/>
            <a:ext cx="3017520" cy="914400"/>
          </a:xfrm>
          <a:prstGeom prst="roundRect">
            <a:avLst>
              <a:gd name="adj" fmla="val 18000"/>
            </a:avLst>
          </a:prstGeom>
          <a:solidFill>
            <a:schemeClr val="bg1"/>
          </a:solidFill>
          <a:ln w="22225">
            <a:solidFill>
              <a:schemeClr val="accent2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8" name="anim_a6_t"/>
          <p:cNvSpPr txBox="1"/>
          <p:nvPr/>
        </p:nvSpPr>
        <p:spPr>
          <a:xfrm>
            <a:off x="4709160" y="4727448"/>
            <a:ext cx="2743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EmbeddingGemma</a:t>
            </a:r>
            <a:endParaRPr lang="en-US" sz="16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local RAG · 768-dim</a:t>
            </a:r>
            <a:endParaRPr lang="en-US" sz="1600" dirty="0"/>
          </a:p>
        </p:txBody>
      </p:sp>
      <p:sp>
        <p:nvSpPr>
          <p:cNvPr id="19" name="anim_l0"/>
          <p:cNvSpPr/>
          <p:nvPr/>
        </p:nvSpPr>
        <p:spPr>
          <a:xfrm>
            <a:off x="3566160" y="2103120"/>
            <a:ext cx="1005840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0" name="anim_l1"/>
          <p:cNvSpPr/>
          <p:nvPr/>
        </p:nvSpPr>
        <p:spPr>
          <a:xfrm flipV="1">
            <a:off x="3566160" y="3291840"/>
            <a:ext cx="1005840" cy="6400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nim_l2"/>
          <p:cNvSpPr/>
          <p:nvPr/>
        </p:nvSpPr>
        <p:spPr>
          <a:xfrm>
            <a:off x="2103120" y="2651760"/>
            <a:ext cx="914" cy="7315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2" name="anim_l3"/>
          <p:cNvSpPr/>
          <p:nvPr/>
        </p:nvSpPr>
        <p:spPr>
          <a:xfrm flipV="1">
            <a:off x="7589520" y="1874520"/>
            <a:ext cx="96012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3" name="anim_l4"/>
          <p:cNvSpPr/>
          <p:nvPr/>
        </p:nvSpPr>
        <p:spPr>
          <a:xfrm>
            <a:off x="7589520" y="3063240"/>
            <a:ext cx="960120" cy="914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4" name="anim_l5"/>
          <p:cNvSpPr/>
          <p:nvPr/>
        </p:nvSpPr>
        <p:spPr>
          <a:xfrm>
            <a:off x="7589520" y="3383280"/>
            <a:ext cx="960120" cy="86868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anim_l6"/>
          <p:cNvSpPr/>
          <p:nvPr/>
        </p:nvSpPr>
        <p:spPr>
          <a:xfrm>
            <a:off x="6080760" y="3657600"/>
            <a:ext cx="914" cy="96012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6" name="anim_l7"/>
          <p:cNvSpPr/>
          <p:nvPr/>
        </p:nvSpPr>
        <p:spPr>
          <a:xfrm flipV="1">
            <a:off x="7589520" y="4526280"/>
            <a:ext cx="960120" cy="548640"/>
          </a:xfrm>
          <a:prstGeom prst="line">
            <a:avLst/>
          </a:prstGeom>
          <a:noFill/>
          <a:ln w="1905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1097280" y="-1005840"/>
            <a:ext cx="2743200" cy="274320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24160" y="5120640"/>
            <a:ext cx="2377440" cy="237744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We trained our own model: Unsloth QLoRA</a:t>
            </a:r>
            <a:endParaRPr lang="en-US" sz="3600" dirty="0"/>
          </a:p>
        </p:txBody>
      </p:sp>
      <p:sp>
        <p:nvSpPr>
          <p:cNvPr id="5" name="anim_st0"/>
          <p:cNvSpPr/>
          <p:nvPr/>
        </p:nvSpPr>
        <p:spPr>
          <a:xfrm>
            <a:off x="68580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6" name="anim_sv0"/>
          <p:cNvSpPr txBox="1"/>
          <p:nvPr/>
        </p:nvSpPr>
        <p:spPr>
          <a:xfrm>
            <a:off x="96012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229</a:t>
            </a:r>
            <a:endParaRPr lang="en-US" sz="4400" dirty="0"/>
          </a:p>
        </p:txBody>
      </p:sp>
      <p:sp>
        <p:nvSpPr>
          <p:cNvPr id="7" name="anim_sl0"/>
          <p:cNvSpPr txBox="1"/>
          <p:nvPr/>
        </p:nvSpPr>
        <p:spPr>
          <a:xfrm>
            <a:off x="96012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labelled Azerbaijani conversations</a:t>
            </a:r>
            <a:endParaRPr lang="en-US" sz="1300" dirty="0"/>
          </a:p>
        </p:txBody>
      </p:sp>
      <p:sp>
        <p:nvSpPr>
          <p:cNvPr id="8" name="anim_st1"/>
          <p:cNvSpPr/>
          <p:nvPr/>
        </p:nvSpPr>
        <p:spPr>
          <a:xfrm>
            <a:off x="352044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9" name="anim_sv1"/>
          <p:cNvSpPr txBox="1"/>
          <p:nvPr/>
        </p:nvSpPr>
        <p:spPr>
          <a:xfrm>
            <a:off x="379476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1B</a:t>
            </a:r>
            <a:endParaRPr lang="en-US" sz="4400" dirty="0"/>
          </a:p>
        </p:txBody>
      </p:sp>
      <p:sp>
        <p:nvSpPr>
          <p:cNvPr id="10" name="anim_sl1"/>
          <p:cNvSpPr txBox="1"/>
          <p:nvPr/>
        </p:nvSpPr>
        <p:spPr>
          <a:xfrm>
            <a:off x="379476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parameters — Gemma 3 1B (4-bit)</a:t>
            </a:r>
            <a:endParaRPr lang="en-US" sz="1300" dirty="0"/>
          </a:p>
        </p:txBody>
      </p:sp>
      <p:sp>
        <p:nvSpPr>
          <p:cNvPr id="11" name="anim_st2"/>
          <p:cNvSpPr/>
          <p:nvPr/>
        </p:nvSpPr>
        <p:spPr>
          <a:xfrm>
            <a:off x="635508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2" name="anim_sv2"/>
          <p:cNvSpPr txBox="1"/>
          <p:nvPr/>
        </p:nvSpPr>
        <p:spPr>
          <a:xfrm>
            <a:off x="662940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4"/>
                </a:solidFill>
              </a:rPr>
              <a:t>8 GB</a:t>
            </a:r>
            <a:endParaRPr lang="en-US" sz="4400" dirty="0"/>
          </a:p>
        </p:txBody>
      </p:sp>
      <p:sp>
        <p:nvSpPr>
          <p:cNvPr id="13" name="anim_sl2"/>
          <p:cNvSpPr txBox="1"/>
          <p:nvPr/>
        </p:nvSpPr>
        <p:spPr>
          <a:xfrm>
            <a:off x="662940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laptop GPU (RTX 4070)</a:t>
            </a:r>
            <a:endParaRPr lang="en-US" sz="1300" dirty="0"/>
          </a:p>
        </p:txBody>
      </p:sp>
      <p:sp>
        <p:nvSpPr>
          <p:cNvPr id="14" name="anim_st3"/>
          <p:cNvSpPr/>
          <p:nvPr/>
        </p:nvSpPr>
        <p:spPr>
          <a:xfrm>
            <a:off x="9189720" y="1417320"/>
            <a:ext cx="2606040" cy="1600200"/>
          </a:xfrm>
          <a:prstGeom prst="roundRect">
            <a:avLst>
              <a:gd name="adj" fmla="val 12571"/>
            </a:avLst>
          </a:prstGeom>
          <a:solidFill>
            <a:schemeClr val="bg1">
              <a:alpha val="12000"/>
            </a:schemeClr>
          </a:solidFill>
          <a:ln w="12700">
            <a:solidFill>
              <a:schemeClr val="bg1">
                <a:alpha val="30000"/>
              </a:schemeClr>
            </a:solidFill>
            <a:prstDash val="solid"/>
          </a:ln>
        </p:spPr>
      </p:sp>
      <p:sp>
        <p:nvSpPr>
          <p:cNvPr id="15" name="anim_sv3"/>
          <p:cNvSpPr txBox="1"/>
          <p:nvPr/>
        </p:nvSpPr>
        <p:spPr>
          <a:xfrm>
            <a:off x="9464040" y="1554480"/>
            <a:ext cx="21031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284 s</a:t>
            </a:r>
            <a:endParaRPr lang="en-US" sz="4400" dirty="0"/>
          </a:p>
        </p:txBody>
      </p:sp>
      <p:sp>
        <p:nvSpPr>
          <p:cNvPr id="16" name="anim_sl3"/>
          <p:cNvSpPr txBox="1"/>
          <p:nvPr/>
        </p:nvSpPr>
        <p:spPr>
          <a:xfrm>
            <a:off x="9464040" y="237744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training time</a:t>
            </a:r>
            <a:endParaRPr lang="en-US" sz="1300" dirty="0"/>
          </a:p>
        </p:txBody>
      </p:sp>
      <p:sp>
        <p:nvSpPr>
          <p:cNvPr id="17" name="anim_pi0_bg"/>
          <p:cNvSpPr/>
          <p:nvPr/>
        </p:nvSpPr>
        <p:spPr>
          <a:xfrm>
            <a:off x="685800" y="3429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8" name="anim_p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524" y="3553724"/>
            <a:ext cx="317480" cy="317480"/>
          </a:xfrm>
          <a:prstGeom prst="rect">
            <a:avLst/>
          </a:prstGeom>
        </p:spPr>
      </p:pic>
      <p:sp>
        <p:nvSpPr>
          <p:cNvPr id="19" name="anim_ph0"/>
          <p:cNvSpPr txBox="1"/>
          <p:nvPr/>
        </p:nvSpPr>
        <p:spPr>
          <a:xfrm>
            <a:off x="1417320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 · Data</a:t>
            </a:r>
            <a:endParaRPr lang="en-US" sz="2000" dirty="0"/>
          </a:p>
        </p:txBody>
      </p:sp>
      <p:sp>
        <p:nvSpPr>
          <p:cNvPr id="20" name="anim_pp0"/>
          <p:cNvSpPr txBox="1"/>
          <p:nvPr/>
        </p:nvSpPr>
        <p:spPr>
          <a:xfrm>
            <a:off x="685800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We sample the labels first (7 categories × 3 urgencies × 3 sentiments, 12 products, 6 customer styles), then Gemma 4 26B writes a matching conversation. The ground truth is exact.</a:t>
            </a:r>
            <a:endParaRPr lang="en-US" sz="1300" dirty="0"/>
          </a:p>
        </p:txBody>
      </p:sp>
      <p:sp>
        <p:nvSpPr>
          <p:cNvPr id="21" name="anim_pi1_bg"/>
          <p:cNvSpPr/>
          <p:nvPr/>
        </p:nvSpPr>
        <p:spPr>
          <a:xfrm>
            <a:off x="4462272" y="342900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22" name="anim_p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6996" y="3553724"/>
            <a:ext cx="317480" cy="317480"/>
          </a:xfrm>
          <a:prstGeom prst="rect">
            <a:avLst/>
          </a:prstGeom>
        </p:spPr>
      </p:pic>
      <p:sp>
        <p:nvSpPr>
          <p:cNvPr id="23" name="anim_ph1"/>
          <p:cNvSpPr txBox="1"/>
          <p:nvPr/>
        </p:nvSpPr>
        <p:spPr>
          <a:xfrm>
            <a:off x="5193792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 · Train</a:t>
            </a:r>
            <a:endParaRPr lang="en-US" sz="2000" dirty="0"/>
          </a:p>
        </p:txBody>
      </p:sp>
      <p:sp>
        <p:nvSpPr>
          <p:cNvPr id="24" name="anim_pp1"/>
          <p:cNvSpPr txBox="1"/>
          <p:nvPr/>
        </p:nvSpPr>
        <p:spPr>
          <a:xfrm>
            <a:off x="4462272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Unsloth QLoRA, rank 16, loss on the JSON answer only. The small model learns our labelling rules.</a:t>
            </a:r>
            <a:endParaRPr lang="en-US" sz="1300" dirty="0"/>
          </a:p>
        </p:txBody>
      </p:sp>
      <p:sp>
        <p:nvSpPr>
          <p:cNvPr id="25" name="anim_pi2_bg"/>
          <p:cNvSpPr/>
          <p:nvPr/>
        </p:nvSpPr>
        <p:spPr>
          <a:xfrm>
            <a:off x="8238744" y="34290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6" name="anim_p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3468" y="3553724"/>
            <a:ext cx="317480" cy="317480"/>
          </a:xfrm>
          <a:prstGeom prst="rect">
            <a:avLst/>
          </a:prstGeom>
        </p:spPr>
      </p:pic>
      <p:sp>
        <p:nvSpPr>
          <p:cNvPr id="27" name="anim_ph2"/>
          <p:cNvSpPr txBox="1"/>
          <p:nvPr/>
        </p:nvSpPr>
        <p:spPr>
          <a:xfrm>
            <a:off x="8970264" y="34747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 · Eval</a:t>
            </a:r>
            <a:endParaRPr lang="en-US" sz="2000" dirty="0"/>
          </a:p>
        </p:txBody>
      </p:sp>
      <p:sp>
        <p:nvSpPr>
          <p:cNvPr id="28" name="anim_pp2"/>
          <p:cNvSpPr txBox="1"/>
          <p:nvPr/>
        </p:nvSpPr>
        <p:spPr>
          <a:xfrm>
            <a:off x="8238744" y="4160520"/>
            <a:ext cx="34747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bg2"/>
                </a:solidFill>
              </a:rPr>
              <a:t>40 held-out conversations: base 1B vs fine-tuned 1B vs Gemma 4 26B. Every field is scored separately.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-82296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80960" y="5760720"/>
            <a:ext cx="1554480" cy="155448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Result: small model, big jump</a:t>
            </a:r>
            <a:endParaRPr lang="en-US" sz="3600" dirty="0"/>
          </a:p>
        </p:txBody>
      </p:sp>
      <p:graphicFrame>
        <p:nvGraphicFramePr>
          <p:cNvPr id="5" name="anim_chart" descr=""/>
          <p:cNvGraphicFramePr/>
          <p:nvPr/>
        </p:nvGraphicFramePr>
        <p:xfrm>
          <a:off x="548640" y="1325880"/>
          <a:ext cx="768096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anim_cc0"/>
          <p:cNvSpPr/>
          <p:nvPr/>
        </p:nvSpPr>
        <p:spPr>
          <a:xfrm>
            <a:off x="8549640" y="13716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7" name="anim_cv0"/>
          <p:cNvSpPr txBox="1"/>
          <p:nvPr/>
        </p:nvSpPr>
        <p:spPr>
          <a:xfrm>
            <a:off x="8778240" y="14630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</a:rPr>
              <a:t>61</a:t>
            </a:r>
            <a:pPr indent="0" marL="0">
              <a:buNone/>
            </a:pPr>
            <a:r>
              <a:rPr lang="en-US" sz="2200" b="1" dirty="0">
                <a:solidFill>
                  <a:schemeClr val="accent1"/>
                </a:solidFill>
              </a:rPr>
              <a:t>%</a:t>
            </a:r>
            <a:endParaRPr lang="en-US" sz="4400" dirty="0"/>
          </a:p>
        </p:txBody>
      </p:sp>
      <p:sp>
        <p:nvSpPr>
          <p:cNvPr id="8" name="anim_cl0"/>
          <p:cNvSpPr txBox="1"/>
          <p:nvPr/>
        </p:nvSpPr>
        <p:spPr>
          <a:xfrm>
            <a:off x="8778240" y="22402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fine-tuned 1B mean accuracy</a:t>
            </a:r>
            <a:endParaRPr lang="en-US" sz="1300" dirty="0"/>
          </a:p>
        </p:txBody>
      </p:sp>
      <p:sp>
        <p:nvSpPr>
          <p:cNvPr id="9" name="anim_cc1"/>
          <p:cNvSpPr/>
          <p:nvPr/>
        </p:nvSpPr>
        <p:spPr>
          <a:xfrm>
            <a:off x="8549640" y="29718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0" name="anim_cv1"/>
          <p:cNvSpPr txBox="1"/>
          <p:nvPr/>
        </p:nvSpPr>
        <p:spPr>
          <a:xfrm>
            <a:off x="8778240" y="30632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5"/>
                </a:solidFill>
              </a:rPr>
              <a:t>30</a:t>
            </a:r>
            <a:pPr indent="0" marL="0">
              <a:buNone/>
            </a:pPr>
            <a:r>
              <a:rPr lang="en-US" sz="2200" b="1" dirty="0">
                <a:solidFill>
                  <a:schemeClr val="accent5"/>
                </a:solidFill>
              </a:rPr>
              <a:t>%</a:t>
            </a:r>
            <a:endParaRPr lang="en-US" sz="4400" dirty="0"/>
          </a:p>
        </p:txBody>
      </p:sp>
      <p:sp>
        <p:nvSpPr>
          <p:cNvPr id="11" name="anim_cl1"/>
          <p:cNvSpPr txBox="1"/>
          <p:nvPr/>
        </p:nvSpPr>
        <p:spPr>
          <a:xfrm>
            <a:off x="8778240" y="38404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same model, not fine-tuned</a:t>
            </a:r>
            <a:endParaRPr lang="en-US" sz="1300" dirty="0"/>
          </a:p>
        </p:txBody>
      </p:sp>
      <p:sp>
        <p:nvSpPr>
          <p:cNvPr id="12" name="anim_cc2"/>
          <p:cNvSpPr/>
          <p:nvPr/>
        </p:nvSpPr>
        <p:spPr>
          <a:xfrm>
            <a:off x="8549640" y="4572000"/>
            <a:ext cx="3017520" cy="1371600"/>
          </a:xfrm>
          <a:prstGeom prst="roundRect">
            <a:avLst>
              <a:gd name="adj" fmla="val 14667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3" name="anim_cv2"/>
          <p:cNvSpPr txBox="1"/>
          <p:nvPr/>
        </p:nvSpPr>
        <p:spPr>
          <a:xfrm>
            <a:off x="8778240" y="4663440"/>
            <a:ext cx="2651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3"/>
                </a:solidFill>
              </a:rPr>
              <a:t>76</a:t>
            </a:r>
            <a:pPr indent="0" marL="0">
              <a:buNone/>
            </a:pPr>
            <a:r>
              <a:rPr lang="en-US" sz="2200" b="1" dirty="0">
                <a:solidFill>
                  <a:schemeClr val="accent3"/>
                </a:solidFill>
              </a:rPr>
              <a:t>%</a:t>
            </a:r>
            <a:endParaRPr lang="en-US" sz="4400" dirty="0"/>
          </a:p>
        </p:txBody>
      </p:sp>
      <p:sp>
        <p:nvSpPr>
          <p:cNvPr id="14" name="anim_cl2"/>
          <p:cNvSpPr txBox="1"/>
          <p:nvPr/>
        </p:nvSpPr>
        <p:spPr>
          <a:xfrm>
            <a:off x="8778240" y="544068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Gemma 4 26B, zero-shot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-914400" y="3108960"/>
            <a:ext cx="2011680" cy="201168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64240" y="5394960"/>
            <a:ext cx="1828800" cy="1828800"/>
          </a:xfrm>
          <a:prstGeom prst="rect">
            <a:avLst/>
          </a:prstGeom>
        </p:spPr>
      </p:pic>
      <p:sp>
        <p:nvSpPr>
          <p:cNvPr id="4" name="Text 0"/>
          <p:cNvSpPr/>
          <p:nvPr>
            <p:ph idx="101" type="title" hasCustomPrompt="1"/>
          </p:nvPr>
        </p:nvSpPr>
        <p:spPr>
          <a:xfrm>
            <a:off x="640080" y="36576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chemeClr val="tx1"/>
                </a:solidFill>
              </a:rPr>
              <a:t>Open all the way down</a:t>
            </a:r>
            <a:endParaRPr lang="en-US" sz="3600" dirty="0"/>
          </a:p>
        </p:txBody>
      </p:sp>
      <p:sp>
        <p:nvSpPr>
          <p:cNvPr id="5" name="anim_os0"/>
          <p:cNvSpPr/>
          <p:nvPr/>
        </p:nvSpPr>
        <p:spPr>
          <a:xfrm>
            <a:off x="64008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6" name="anim_oi0_bg"/>
          <p:cNvSpPr/>
          <p:nvPr/>
        </p:nvSpPr>
        <p:spPr>
          <a:xfrm>
            <a:off x="96012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7" name="anim_oi0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4844" y="1953524"/>
            <a:ext cx="317480" cy="317480"/>
          </a:xfrm>
          <a:prstGeom prst="rect">
            <a:avLst/>
          </a:prstGeom>
        </p:spPr>
      </p:pic>
      <p:sp>
        <p:nvSpPr>
          <p:cNvPr id="8" name="anim_oh0"/>
          <p:cNvSpPr txBox="1"/>
          <p:nvPr/>
        </p:nvSpPr>
        <p:spPr>
          <a:xfrm>
            <a:off x="169164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Gemma 4 26B / E4B</a:t>
            </a:r>
            <a:endParaRPr lang="en-US" sz="1800" dirty="0"/>
          </a:p>
        </p:txBody>
      </p:sp>
      <p:sp>
        <p:nvSpPr>
          <p:cNvPr id="9" name="anim_op0"/>
          <p:cNvSpPr txBox="1"/>
          <p:nvPr/>
        </p:nvSpPr>
        <p:spPr>
          <a:xfrm>
            <a:off x="96012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Agent, vision, analysis</a:t>
            </a:r>
            <a:endParaRPr lang="en-US" sz="1300" dirty="0"/>
          </a:p>
        </p:txBody>
      </p:sp>
      <p:sp>
        <p:nvSpPr>
          <p:cNvPr id="10" name="anim_ol0"/>
          <p:cNvSpPr txBox="1"/>
          <p:nvPr/>
        </p:nvSpPr>
        <p:spPr>
          <a:xfrm>
            <a:off x="96012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</a:t>
            </a:r>
            <a:endParaRPr lang="en-US" sz="1200" dirty="0"/>
          </a:p>
        </p:txBody>
      </p:sp>
      <p:sp>
        <p:nvSpPr>
          <p:cNvPr id="11" name="anim_os1"/>
          <p:cNvSpPr/>
          <p:nvPr/>
        </p:nvSpPr>
        <p:spPr>
          <a:xfrm>
            <a:off x="434340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2" name="anim_oi1_bg"/>
          <p:cNvSpPr/>
          <p:nvPr/>
        </p:nvSpPr>
        <p:spPr>
          <a:xfrm>
            <a:off x="466344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anim_oi1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8164" y="1953524"/>
            <a:ext cx="317480" cy="317480"/>
          </a:xfrm>
          <a:prstGeom prst="rect">
            <a:avLst/>
          </a:prstGeom>
        </p:spPr>
      </p:pic>
      <p:sp>
        <p:nvSpPr>
          <p:cNvPr id="14" name="anim_oh1"/>
          <p:cNvSpPr txBox="1"/>
          <p:nvPr/>
        </p:nvSpPr>
        <p:spPr>
          <a:xfrm>
            <a:off x="539496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EmbeddingGemma</a:t>
            </a:r>
            <a:endParaRPr lang="en-US" sz="1800" dirty="0"/>
          </a:p>
        </p:txBody>
      </p:sp>
      <p:sp>
        <p:nvSpPr>
          <p:cNvPr id="15" name="anim_op1"/>
          <p:cNvSpPr txBox="1"/>
          <p:nvPr/>
        </p:nvSpPr>
        <p:spPr>
          <a:xfrm>
            <a:off x="466344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Local RAG embeddings</a:t>
            </a:r>
            <a:endParaRPr lang="en-US" sz="1300" dirty="0"/>
          </a:p>
        </p:txBody>
      </p:sp>
      <p:sp>
        <p:nvSpPr>
          <p:cNvPr id="16" name="anim_ol1"/>
          <p:cNvSpPr txBox="1"/>
          <p:nvPr/>
        </p:nvSpPr>
        <p:spPr>
          <a:xfrm>
            <a:off x="466344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Gemma Terms</a:t>
            </a:r>
            <a:endParaRPr lang="en-US" sz="1200" dirty="0"/>
          </a:p>
        </p:txBody>
      </p:sp>
      <p:sp>
        <p:nvSpPr>
          <p:cNvPr id="17" name="anim_os2"/>
          <p:cNvSpPr/>
          <p:nvPr/>
        </p:nvSpPr>
        <p:spPr>
          <a:xfrm>
            <a:off x="8046720" y="150876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18" name="anim_oi2_bg"/>
          <p:cNvSpPr/>
          <p:nvPr/>
        </p:nvSpPr>
        <p:spPr>
          <a:xfrm>
            <a:off x="8366760" y="182880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9" name="anim_oi2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1484" y="1953524"/>
            <a:ext cx="317480" cy="317480"/>
          </a:xfrm>
          <a:prstGeom prst="rect">
            <a:avLst/>
          </a:prstGeom>
        </p:spPr>
      </p:pic>
      <p:sp>
        <p:nvSpPr>
          <p:cNvPr id="20" name="anim_oh2"/>
          <p:cNvSpPr txBox="1"/>
          <p:nvPr/>
        </p:nvSpPr>
        <p:spPr>
          <a:xfrm>
            <a:off x="9098280" y="182880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Gemma 3 1B + LoRA</a:t>
            </a:r>
            <a:endParaRPr lang="en-US" sz="1800" dirty="0"/>
          </a:p>
        </p:txBody>
      </p:sp>
      <p:sp>
        <p:nvSpPr>
          <p:cNvPr id="21" name="anim_op2"/>
          <p:cNvSpPr txBox="1"/>
          <p:nvPr/>
        </p:nvSpPr>
        <p:spPr>
          <a:xfrm>
            <a:off x="8366760" y="2532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Fine-tuned analyst</a:t>
            </a:r>
            <a:endParaRPr lang="en-US" sz="1300" dirty="0"/>
          </a:p>
        </p:txBody>
      </p:sp>
      <p:sp>
        <p:nvSpPr>
          <p:cNvPr id="22" name="anim_ol2"/>
          <p:cNvSpPr txBox="1"/>
          <p:nvPr/>
        </p:nvSpPr>
        <p:spPr>
          <a:xfrm>
            <a:off x="8366760" y="289864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Gemma Terms</a:t>
            </a:r>
            <a:endParaRPr lang="en-US" sz="1200" dirty="0"/>
          </a:p>
        </p:txBody>
      </p:sp>
      <p:sp>
        <p:nvSpPr>
          <p:cNvPr id="23" name="anim_os3"/>
          <p:cNvSpPr/>
          <p:nvPr/>
        </p:nvSpPr>
        <p:spPr>
          <a:xfrm>
            <a:off x="64008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24" name="anim_oi3_bg"/>
          <p:cNvSpPr/>
          <p:nvPr/>
        </p:nvSpPr>
        <p:spPr>
          <a:xfrm>
            <a:off x="96012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5" name="anim_oi3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4844" y="4193804"/>
            <a:ext cx="317480" cy="317480"/>
          </a:xfrm>
          <a:prstGeom prst="rect">
            <a:avLst/>
          </a:prstGeom>
        </p:spPr>
      </p:pic>
      <p:sp>
        <p:nvSpPr>
          <p:cNvPr id="26" name="anim_oh3"/>
          <p:cNvSpPr txBox="1"/>
          <p:nvPr/>
        </p:nvSpPr>
        <p:spPr>
          <a:xfrm>
            <a:off x="169164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Unsloth · Ollama</a:t>
            </a:r>
            <a:endParaRPr lang="en-US" sz="1800" dirty="0"/>
          </a:p>
        </p:txBody>
      </p:sp>
      <p:sp>
        <p:nvSpPr>
          <p:cNvPr id="27" name="anim_op3"/>
          <p:cNvSpPr txBox="1"/>
          <p:nvPr/>
        </p:nvSpPr>
        <p:spPr>
          <a:xfrm>
            <a:off x="96012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Training and local inference</a:t>
            </a:r>
            <a:endParaRPr lang="en-US" sz="1300" dirty="0"/>
          </a:p>
        </p:txBody>
      </p:sp>
      <p:sp>
        <p:nvSpPr>
          <p:cNvPr id="28" name="anim_ol3"/>
          <p:cNvSpPr txBox="1"/>
          <p:nvPr/>
        </p:nvSpPr>
        <p:spPr>
          <a:xfrm>
            <a:off x="96012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 · MIT</a:t>
            </a:r>
            <a:endParaRPr lang="en-US" sz="1200" dirty="0"/>
          </a:p>
        </p:txBody>
      </p:sp>
      <p:sp>
        <p:nvSpPr>
          <p:cNvPr id="29" name="anim_os4"/>
          <p:cNvSpPr/>
          <p:nvPr/>
        </p:nvSpPr>
        <p:spPr>
          <a:xfrm>
            <a:off x="434340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30" name="anim_oi4_bg"/>
          <p:cNvSpPr/>
          <p:nvPr/>
        </p:nvSpPr>
        <p:spPr>
          <a:xfrm>
            <a:off x="4663440" y="4069080"/>
            <a:ext cx="566928" cy="566928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31" name="anim_oi4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88164" y="4193804"/>
            <a:ext cx="317480" cy="317480"/>
          </a:xfrm>
          <a:prstGeom prst="rect">
            <a:avLst/>
          </a:prstGeom>
        </p:spPr>
      </p:pic>
      <p:sp>
        <p:nvSpPr>
          <p:cNvPr id="32" name="anim_oh4"/>
          <p:cNvSpPr txBox="1"/>
          <p:nvPr/>
        </p:nvSpPr>
        <p:spPr>
          <a:xfrm>
            <a:off x="539496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Neon · pgvector</a:t>
            </a:r>
            <a:endParaRPr lang="en-US" sz="1800" dirty="0"/>
          </a:p>
        </p:txBody>
      </p:sp>
      <p:sp>
        <p:nvSpPr>
          <p:cNvPr id="33" name="anim_op4"/>
          <p:cNvSpPr txBox="1"/>
          <p:nvPr/>
        </p:nvSpPr>
        <p:spPr>
          <a:xfrm>
            <a:off x="466344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Postgres + vector search</a:t>
            </a:r>
            <a:endParaRPr lang="en-US" sz="1300" dirty="0"/>
          </a:p>
        </p:txBody>
      </p:sp>
      <p:sp>
        <p:nvSpPr>
          <p:cNvPr id="34" name="anim_ol4"/>
          <p:cNvSpPr txBox="1"/>
          <p:nvPr/>
        </p:nvSpPr>
        <p:spPr>
          <a:xfrm>
            <a:off x="466344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Apache 2.0 · PostgreSQL</a:t>
            </a:r>
            <a:endParaRPr lang="en-US" sz="1200" dirty="0"/>
          </a:p>
        </p:txBody>
      </p:sp>
      <p:sp>
        <p:nvSpPr>
          <p:cNvPr id="35" name="anim_os5"/>
          <p:cNvSpPr/>
          <p:nvPr/>
        </p:nvSpPr>
        <p:spPr>
          <a:xfrm>
            <a:off x="8046720" y="3749040"/>
            <a:ext cx="3429000" cy="1920240"/>
          </a:xfrm>
          <a:prstGeom prst="roundRect">
            <a:avLst>
              <a:gd name="adj" fmla="val 10476"/>
            </a:avLst>
          </a:prstGeom>
          <a:solidFill>
            <a:schemeClr val="bg1">
              <a:alpha val="65000"/>
            </a:schemeClr>
          </a:solidFill>
          <a:ln w="19050">
            <a:solidFill>
              <a:schemeClr val="bg1"/>
            </a:solidFill>
            <a:prstDash val="solid"/>
          </a:ln>
          <a:effectLst>
            <a:outerShdw sx="100000" sy="100000" kx="0" ky="0" algn="bl" rotWithShape="0" blurRad="228600" dist="76200" dir="5400000">
              <a:srgbClr val="0F2A33">
                <a:alpha val="18000"/>
              </a:srgbClr>
            </a:outerShdw>
          </a:effectLst>
        </p:spPr>
      </p:sp>
      <p:sp>
        <p:nvSpPr>
          <p:cNvPr id="36" name="anim_oi5_bg"/>
          <p:cNvSpPr/>
          <p:nvPr/>
        </p:nvSpPr>
        <p:spPr>
          <a:xfrm>
            <a:off x="8366760" y="4069080"/>
            <a:ext cx="566928" cy="566928"/>
          </a:xfrm>
          <a:prstGeom prst="ellipse">
            <a:avLst/>
          </a:prstGeom>
          <a:solidFill>
            <a:schemeClr val="accent3"/>
          </a:solidFill>
          <a:ln/>
        </p:spPr>
      </p:sp>
      <p:pic>
        <p:nvPicPr>
          <p:cNvPr id="37" name="anim_oi5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91484" y="4193804"/>
            <a:ext cx="317480" cy="317480"/>
          </a:xfrm>
          <a:prstGeom prst="rect">
            <a:avLst/>
          </a:prstGeom>
        </p:spPr>
      </p:pic>
      <p:sp>
        <p:nvSpPr>
          <p:cNvPr id="38" name="anim_oh5"/>
          <p:cNvSpPr txBox="1"/>
          <p:nvPr/>
        </p:nvSpPr>
        <p:spPr>
          <a:xfrm>
            <a:off x="9098280" y="4069080"/>
            <a:ext cx="2194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ChillDesk code</a:t>
            </a:r>
            <a:endParaRPr lang="en-US" sz="1800" dirty="0"/>
          </a:p>
        </p:txBody>
      </p:sp>
      <p:sp>
        <p:nvSpPr>
          <p:cNvPr id="39" name="anim_op5"/>
          <p:cNvSpPr txBox="1"/>
          <p:nvPr/>
        </p:nvSpPr>
        <p:spPr>
          <a:xfrm>
            <a:off x="8366760" y="477316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accent5"/>
                </a:solidFill>
              </a:rPr>
              <a:t>github.com/Ducktoberfest/team-Chill</a:t>
            </a:r>
            <a:endParaRPr lang="en-US" sz="1300" dirty="0"/>
          </a:p>
        </p:txBody>
      </p:sp>
      <p:sp>
        <p:nvSpPr>
          <p:cNvPr id="40" name="anim_ol5"/>
          <p:cNvSpPr txBox="1"/>
          <p:nvPr/>
        </p:nvSpPr>
        <p:spPr>
          <a:xfrm>
            <a:off x="8366760" y="5138928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MIT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47120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!!orbA" descr="/home/ali/Desktop/team-Chill/deck/assets/orb-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66960" y="-1188720"/>
            <a:ext cx="3474720" cy="3474720"/>
          </a:xfrm>
          <a:prstGeom prst="rect">
            <a:avLst/>
          </a:prstGeom>
        </p:spPr>
      </p:pic>
      <p:pic>
        <p:nvPicPr>
          <p:cNvPr id="3" name="!!orbB" descr="/home/ali/Desktop/team-Chill/deck/assets/orb-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0" y="-914400"/>
            <a:ext cx="1828800" cy="1828800"/>
          </a:xfrm>
          <a:prstGeom prst="rect">
            <a:avLst/>
          </a:prstGeom>
        </p:spPr>
      </p:pic>
      <p:pic>
        <p:nvPicPr>
          <p:cNvPr id="4" name="Image 2" descr="/home/ali/Desktop/team-Chill/deck/assets/ripples-dark.png">    </p:cNvPr>
          <p:cNvPicPr>
            <a:picLocks noChangeAspect="1"/>
          </p:cNvPicPr>
          <p:nvPr/>
        </p:nvPicPr>
        <p:blipFill>
          <a:blip r:embed="rId3">
            <a:alphaModFix amt="90000"/>
          </a:blip>
          <a:stretch>
            <a:fillRect/>
          </a:stretch>
        </p:blipFill>
        <p:spPr>
          <a:xfrm>
            <a:off x="5852160" y="1463040"/>
            <a:ext cx="6400800" cy="6400800"/>
          </a:xfrm>
          <a:prstGeom prst="rect">
            <a:avLst/>
          </a:prstGeom>
        </p:spPr>
      </p:pic>
      <p:pic>
        <p:nvPicPr>
          <p:cNvPr id="5" name="anim_logo2" descr="/home/ali/Desktop/team-Chill/deck/assets/logo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960120"/>
            <a:ext cx="960120" cy="960120"/>
          </a:xfrm>
          <a:prstGeom prst="rect">
            <a:avLst/>
          </a:prstGeom>
        </p:spPr>
      </p:pic>
      <p:sp>
        <p:nvSpPr>
          <p:cNvPr id="6" name="Text 0"/>
          <p:cNvSpPr/>
          <p:nvPr>
            <p:ph idx="100" type="title" hasCustomPrompt="1"/>
          </p:nvPr>
        </p:nvSpPr>
        <p:spPr>
          <a:xfrm>
            <a:off x="731520" y="2148840"/>
            <a:ext cx="53949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000" b="1" dirty="0">
                <a:solidFill>
                  <a:schemeClr val="bg1"/>
                </a:solidFill>
              </a:rPr>
              <a:t>Thank you!</a:t>
            </a:r>
            <a:endParaRPr lang="en-US" sz="6000" dirty="0"/>
          </a:p>
        </p:txBody>
      </p:sp>
      <p:sp>
        <p:nvSpPr>
          <p:cNvPr id="7" name="Text 0"/>
          <p:cNvSpPr/>
          <p:nvPr>
            <p:ph idx="101" type="body" hasCustomPrompt="1"/>
          </p:nvPr>
        </p:nvSpPr>
        <p:spPr>
          <a:xfrm>
            <a:off x="731520" y="3429000"/>
            <a:ext cx="5212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Now let’s call Aysu.</a:t>
            </a:r>
            <a:endParaRPr lang="en-US" sz="2200" dirty="0"/>
          </a:p>
        </p:txBody>
      </p:sp>
      <p:sp>
        <p:nvSpPr>
          <p:cNvPr id="8" name="anim_repo"/>
          <p:cNvSpPr txBox="1"/>
          <p:nvPr/>
        </p:nvSpPr>
        <p:spPr>
          <a:xfrm>
            <a:off x="731520" y="48006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accent3"/>
                </a:solidFill>
              </a:rPr>
              <a:t>github.com/Ducktoberfest/team-Chill</a:t>
            </a:r>
            <a:endParaRPr lang="en-US" sz="2000" dirty="0"/>
          </a:p>
        </p:txBody>
      </p:sp>
      <p:sp>
        <p:nvSpPr>
          <p:cNvPr id="9" name="anim_team2"/>
          <p:cNvSpPr txBox="1"/>
          <p:nvPr/>
        </p:nvSpPr>
        <p:spPr>
          <a:xfrm>
            <a:off x="731520" y="59893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team-Chill · Ducktoberfest Baku 2026</a:t>
            </a:r>
            <a:endParaRPr lang="en-US" sz="1400" dirty="0"/>
          </a:p>
        </p:txBody>
      </p:sp>
      <p:pic>
        <p:nvPicPr>
          <p:cNvPr id="10" name="anim_ring2" descr="/home/ali/Desktop/team-Chill/deck/assets/04-call-ringing-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92440" y="640080"/>
            <a:ext cx="3108960" cy="4910413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16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Mallard">
  <a:themeElements>
    <a:clrScheme name="Mallard">
      <a:dk1>
        <a:srgbClr val="10242B"/>
      </a:dk1>
      <a:lt1>
        <a:srgbClr val="FFFFFF"/>
      </a:lt1>
      <a:dk2>
        <a:srgbClr val="0F2A33"/>
      </a:dk2>
      <a:lt2>
        <a:srgbClr val="F6F2EA"/>
      </a:lt2>
      <a:accent1>
        <a:srgbClr val="0B7A5C"/>
      </a:accent1>
      <a:accent2>
        <a:srgbClr val="14B8A6"/>
      </a:accent2>
      <a:accent3>
        <a:srgbClr val="F97316"/>
      </a:accent3>
      <a:accent4>
        <a:srgbClr val="16C79A"/>
      </a:accent4>
      <a:accent5>
        <a:srgbClr val="5F6D6B"/>
      </a:accent5>
      <a:accent6>
        <a:srgbClr val="FDBA4D"/>
      </a:accent6>
      <a:hlink>
        <a:srgbClr val="0B7A5C"/>
      </a:hlink>
      <a:folHlink>
        <a:srgbClr val="14B8A6"/>
      </a:folHlink>
    </a:clrScheme>
    <a:fontScheme name="Mallard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team-Chill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ChillDesk — Gemma 4 AI support agent</dc:title>
  <dc:subject>PptxGenJS Presentation</dc:subject>
  <dc:creator>team-Chill</dc:creator>
  <cp:lastModifiedBy>team-Chill</cp:lastModifiedBy>
  <cp:revision>1</cp:revision>
  <dcterms:created xsi:type="dcterms:W3CDTF">2026-10-11T10:46:16Z</dcterms:created>
  <dcterms:modified xsi:type="dcterms:W3CDTF">2026-10-11T10:46:16Z</dcterms:modified>
</cp:coreProperties>
</file>