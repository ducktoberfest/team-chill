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0242B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0242B"/>
                </a:solidFill>
                <a:latin typeface="+mn-lt"/>
              </a:rPr>
              <a:t>Test dəqiqliyi, % (gizli test seti)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Gemma 3 1B (base)</c:v>
                </c:pt>
              </c:strCache>
            </c:strRef>
          </c:tx>
          <c:spPr>
            <a:solidFill>
              <a:srgbClr val="9AA5A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0242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Kateqoriya</c:v>
                  </c:pt>
                  <c:pt idx="1">
                    <c:v>Təcililik</c:v>
                  </c:pt>
                  <c:pt idx="2">
                    <c:v>Emosiya</c:v>
                  </c:pt>
                  <c:pt idx="3">
                    <c:v>Həll olundu</c:v>
                  </c:pt>
                  <c:pt idx="4">
                    <c:v>İnsan lazım</c:v>
                  </c:pt>
                  <c:pt idx="5">
                    <c:v>Komanda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25</c:v>
                </c:pt>
                <c:pt idx="2">
                  <c:v>33</c:v>
                </c:pt>
                <c:pt idx="3">
                  <c:v>45</c:v>
                </c:pt>
                <c:pt idx="4">
                  <c:v>48</c:v>
                </c:pt>
                <c:pt idx="5">
                  <c:v>28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Gemma 3 1B + LoRA (bizim)</c:v>
                </c:pt>
              </c:strCache>
            </c:strRef>
          </c:tx>
          <c:spPr>
            <a:solidFill>
              <a:srgbClr val="0B7A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0242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Kateqoriya</c:v>
                  </c:pt>
                  <c:pt idx="1">
                    <c:v>Təcililik</c:v>
                  </c:pt>
                  <c:pt idx="2">
                    <c:v>Emosiya</c:v>
                  </c:pt>
                  <c:pt idx="3">
                    <c:v>Həll olundu</c:v>
                  </c:pt>
                  <c:pt idx="4">
                    <c:v>İnsan lazım</c:v>
                  </c:pt>
                  <c:pt idx="5">
                    <c:v>Komanda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65</c:v>
                </c:pt>
                <c:pt idx="1">
                  <c:v>23</c:v>
                </c:pt>
                <c:pt idx="2">
                  <c:v>73</c:v>
                </c:pt>
                <c:pt idx="3">
                  <c:v>75</c:v>
                </c:pt>
                <c:pt idx="4">
                  <c:v>68</c:v>
                </c:pt>
                <c:pt idx="5">
                  <c:v>65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Gemma 4 26B (API)</c:v>
                </c:pt>
              </c:strCache>
            </c:strRef>
          </c:tx>
          <c:spPr>
            <a:solidFill>
              <a:srgbClr val="F9731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0242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Kateqoriya</c:v>
                  </c:pt>
                  <c:pt idx="1">
                    <c:v>Təcililik</c:v>
                  </c:pt>
                  <c:pt idx="2">
                    <c:v>Emosiya</c:v>
                  </c:pt>
                  <c:pt idx="3">
                    <c:v>Həll olundu</c:v>
                  </c:pt>
                  <c:pt idx="4">
                    <c:v>İnsan lazım</c:v>
                  </c:pt>
                  <c:pt idx="5">
                    <c:v>Komanda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83</c:v>
                </c:pt>
                <c:pt idx="1">
                  <c:v>48</c:v>
                </c:pt>
                <c:pt idx="2">
                  <c:v>70</c:v>
                </c:pt>
                <c:pt idx="3">
                  <c:v>93</c:v>
                </c:pt>
                <c:pt idx="4">
                  <c:v>85</c:v>
                </c:pt>
                <c:pt idx="5">
                  <c:v>78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0242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6D6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3DED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D6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10242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ChillDesk: Mallard adlı onlayn mağaza üçün AI dəstək agenti. Beyni açıq çəkili Gemma 4-dür. Chat, şəkil və səsli zəng bir yerdədir, söhbətdən sonrakı işlər avtomatik görülür.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Problem: dəstək sualları təkrarlanır, şəkillər və zənglər əl ilə yoxlanılır, söhbətdən sonra da iş qalır. Kiçik mağaza üçün bu baha başa gəlir.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Aysu dörd işi görür: alətlərlə real hərəkət, şəkli anlamaq, 3D avatarla səsli zəng və söhbətdən sonra avtomatlaşdırma.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Canlı ssenari: müştəri çatlı qulaqlığın şəklini göndərir. Gemma 4 şəkli təsvir edir, sifarişi tapır, qayda mühərriki ilə dəyişmə müraciəti açır. Hər addım chat-də görünür.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Səsli zəng: ElevenLabs səsi tanıyır və səsləndirir, amma cavabı Gemma 4 verir. Avatar hərflərin zamanlaması ilə danışır, Gemma-nın seçdiyi ton tag-i ilə həm səs, həm üz dəyişir.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Hər söhbət bitəndə və ya söhbət 10 saniyə sakit qalanda Gemma 4 onu analiz edir: xülasə, prioritet, emosiya, lazım olsa avto-bilet və müştəriyə hazır follow-up email. Hamısı Neon-a yazılır və dashboard-da görünür.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Brauzer chat-i SSE ilə, səsi ElevenLabs ilə göndərir. ElevenLabs bizim OpenAI-uyğun endpoint-i çağırır. Backend Gemma 4 agent dövrəsini işlədir, alətlər Neon-a yazır, bilik bazası EmbeddingGemma və pgvector ilə axtarılır. Gemini limiti dolsa, lokal Gemma 4 davam edir.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Məqsəd: söhbət analizini internetsiz, kiçik açıq modeldə işlətmək. Datanı müəllim model yazdı, amma etiketləri biz əvvəlcədən seçdik, ona görə doğru cavablar dəqiq məlumdur.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Gizli test setində eyni 1B model fine-tune-dan əvvəl və sonra, üstəlik 26 milyard parametrli Gemma 4 zero-shot. Fine-tuned kiçik model bizim etiket qaydalarımızı öyrənib və lokal, internetsiz işləyir.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Bütün AI qatı açıq çəkili Gemma ailəsidir. Kod MIT lisenziyalıdır, README-də modellər, lisenziyalar və işə salma qaydası var.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Təşəkkür. Sonra canlı demo: Aysuya zəng, zədəli məhsul şəkli və dashboard-da avtomatik analiz.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DARK_TITLE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LIGHT_CONTENT-image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image" Target="../media/DARK_CONTENT-image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48840"/>
            <a:ext cx="539496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29000"/>
            <a:ext cx="52120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ali/Desktop/team-Chill/deck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0" y="384048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365760"/>
            <a:ext cx="1024128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ali/Desktop/team-Chill/deck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0" y="384048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365760"/>
            <a:ext cx="1024128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1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orbA" descr="/home/ali/Desktop/team-Chill/deck/assets/orb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0" y="-914400"/>
            <a:ext cx="3291840" cy="3291840"/>
          </a:xfrm>
          <a:prstGeom prst="rect">
            <a:avLst/>
          </a:prstGeom>
        </p:spPr>
      </p:pic>
      <p:pic>
        <p:nvPicPr>
          <p:cNvPr id="3" name="!!orbB" descr="/home/ali/Desktop/team-Chill/deck/assets/orb-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5715000"/>
            <a:ext cx="1371600" cy="1371600"/>
          </a:xfrm>
          <a:prstGeom prst="rect">
            <a:avLst/>
          </a:prstGeom>
        </p:spPr>
      </p:pic>
      <p:pic>
        <p:nvPicPr>
          <p:cNvPr id="4" name="Image 2" descr="/home/ali/Desktop/team-Chill/deck/assets/ripples-dark.png">    </p:cNvPr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6035040" y="1920240"/>
            <a:ext cx="6035040" cy="6035040"/>
          </a:xfrm>
          <a:prstGeom prst="rect">
            <a:avLst/>
          </a:prstGeom>
        </p:spPr>
      </p:pic>
      <p:pic>
        <p:nvPicPr>
          <p:cNvPr id="5" name="anim_logo" descr="/home/ali/Desktop/team-Chill/deck/assets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960120"/>
            <a:ext cx="960120" cy="960120"/>
          </a:xfrm>
          <a:prstGeom prst="rect">
            <a:avLst/>
          </a:prstGeom>
        </p:spPr>
      </p:pic>
      <p:sp>
        <p:nvSpPr>
          <p:cNvPr id="6" name="Text 0"/>
          <p:cNvSpPr/>
          <p:nvPr>
            <p:ph idx="100" type="title" hasCustomPrompt="1"/>
          </p:nvPr>
        </p:nvSpPr>
        <p:spPr>
          <a:xfrm>
            <a:off x="731520" y="214884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ChillDesk</a:t>
            </a:r>
            <a:endParaRPr lang="en-US" sz="6000" dirty="0"/>
          </a:p>
        </p:txBody>
      </p:sp>
      <p:sp>
        <p:nvSpPr>
          <p:cNvPr id="7" name="Text 0"/>
          <p:cNvSpPr/>
          <p:nvPr>
            <p:ph idx="101" type="body" hasCustomPrompt="1"/>
          </p:nvPr>
        </p:nvSpPr>
        <p:spPr>
          <a:xfrm>
            <a:off x="731520" y="342900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Açıq çəkili Gemma 4 ilə onlayn mağazalar üçün AI dəstək agenti</a:t>
            </a:r>
            <a:endParaRPr lang="en-US" sz="2200" dirty="0"/>
          </a:p>
        </p:txBody>
      </p:sp>
      <p:sp>
        <p:nvSpPr>
          <p:cNvPr id="8" name="anim_chip0"/>
          <p:cNvSpPr/>
          <p:nvPr/>
        </p:nvSpPr>
        <p:spPr>
          <a:xfrm>
            <a:off x="731520" y="4800600"/>
            <a:ext cx="2331720" cy="43891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9" name="anim_chipt0"/>
          <p:cNvSpPr txBox="1"/>
          <p:nvPr/>
        </p:nvSpPr>
        <p:spPr>
          <a:xfrm>
            <a:off x="731520" y="4800600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Best Use of Gemma 4</a:t>
            </a:r>
            <a:endParaRPr lang="en-US" sz="1400" dirty="0"/>
          </a:p>
        </p:txBody>
      </p:sp>
      <p:sp>
        <p:nvSpPr>
          <p:cNvPr id="10" name="anim_chip1"/>
          <p:cNvSpPr/>
          <p:nvPr/>
        </p:nvSpPr>
        <p:spPr>
          <a:xfrm>
            <a:off x="3246120" y="4800600"/>
            <a:ext cx="2743200" cy="438912"/>
          </a:xfrm>
          <a:prstGeom prst="roundRect">
            <a:avLst>
              <a:gd name="adj" fmla="val 50000"/>
            </a:avLst>
          </a:prstGeom>
          <a:solidFill>
            <a:schemeClr val="accent3">
              <a:alpha val="0"/>
            </a:schemeClr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11" name="anim_chipt1"/>
          <p:cNvSpPr txBox="1"/>
          <p:nvPr/>
        </p:nvSpPr>
        <p:spPr>
          <a:xfrm>
            <a:off x="3246120" y="480060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Best Open-Source AI Project</a:t>
            </a:r>
            <a:endParaRPr lang="en-US" sz="1400" dirty="0"/>
          </a:p>
        </p:txBody>
      </p:sp>
      <p:sp>
        <p:nvSpPr>
          <p:cNvPr id="12" name="anim_team"/>
          <p:cNvSpPr txBox="1"/>
          <p:nvPr/>
        </p:nvSpPr>
        <p:spPr>
          <a:xfrm>
            <a:off x="731520" y="59893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team-Chill · Ducktoberfest Baku 2026 · Hacktoberfest Hack Day</a:t>
            </a:r>
            <a:endParaRPr lang="en-US" sz="1400" dirty="0"/>
          </a:p>
        </p:txBody>
      </p:sp>
      <p:pic>
        <p:nvPicPr>
          <p:cNvPr id="13" name="anim_site" descr="/home/ali/Desktop/team-Chill/deck/assets/01-hero-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1143000"/>
            <a:ext cx="5257800" cy="2594670"/>
          </a:xfrm>
          <a:prstGeom prst="rect">
            <a:avLst/>
          </a:prstGeom>
        </p:spPr>
      </p:pic>
      <p:pic>
        <p:nvPicPr>
          <p:cNvPr id="14" name="anim_site2" descr="/home/ali/Desktop/team-Chill/deck/assets/02-products-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520" y="3520440"/>
            <a:ext cx="4206240" cy="20757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orbA" descr="/home/ali/Desktop/team-Chill/deck/assets/orb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0" y="4846320"/>
            <a:ext cx="2377440" cy="2377440"/>
          </a:xfrm>
          <a:prstGeom prst="rect">
            <a:avLst/>
          </a:prstGeom>
        </p:spPr>
      </p:pic>
      <p:pic>
        <p:nvPicPr>
          <p:cNvPr id="3" name="!!orbB" descr="/home/ali/Desktop/team-Chill/deck/assets/orb-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97280" y="-822960"/>
            <a:ext cx="2011680" cy="201168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1" type="title" hasCustomPrompt="1"/>
          </p:nvPr>
        </p:nvSpPr>
        <p:spPr>
          <a:xfrm>
            <a:off x="640080" y="3657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Müştəri dəstəyi yavaş, baha və dağınıqdır</a:t>
            </a:r>
            <a:endParaRPr lang="en-US" sz="3600" dirty="0"/>
          </a:p>
        </p:txBody>
      </p:sp>
      <p:sp>
        <p:nvSpPr>
          <p:cNvPr id="5" name="anim_card0"/>
          <p:cNvSpPr/>
          <p:nvPr/>
        </p:nvSpPr>
        <p:spPr>
          <a:xfrm>
            <a:off x="640080" y="1600200"/>
            <a:ext cx="3429000" cy="3931920"/>
          </a:xfrm>
          <a:prstGeom prst="roundRect">
            <a:avLst>
              <a:gd name="adj" fmla="val 5867"/>
            </a:avLst>
          </a:prstGeom>
          <a:solidFill>
            <a:schemeClr val="bg1">
              <a:alpha val="65000"/>
            </a:schemeClr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228600" dist="76200" dir="5400000">
              <a:srgbClr val="0F2A33">
                <a:alpha val="18000"/>
              </a:srgbClr>
            </a:outerShdw>
          </a:effectLst>
        </p:spPr>
      </p:sp>
      <p:sp>
        <p:nvSpPr>
          <p:cNvPr id="6" name="anim_ic0_bg"/>
          <p:cNvSpPr/>
          <p:nvPr/>
        </p:nvSpPr>
        <p:spPr>
          <a:xfrm>
            <a:off x="1005840" y="19659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anim_ic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6774" y="2126894"/>
            <a:ext cx="409651" cy="409651"/>
          </a:xfrm>
          <a:prstGeom prst="rect">
            <a:avLst/>
          </a:prstGeom>
        </p:spPr>
      </p:pic>
      <p:sp>
        <p:nvSpPr>
          <p:cNvPr id="8" name="anim_h0"/>
          <p:cNvSpPr txBox="1"/>
          <p:nvPr/>
        </p:nvSpPr>
        <p:spPr>
          <a:xfrm>
            <a:off x="1005840" y="29260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Suallar 24/7 gəlir</a:t>
            </a:r>
            <a:endParaRPr lang="en-US" sz="2200" dirty="0"/>
          </a:p>
        </p:txBody>
      </p:sp>
      <p:sp>
        <p:nvSpPr>
          <p:cNvPr id="9" name="anim_p0"/>
          <p:cNvSpPr txBox="1"/>
          <p:nvPr/>
        </p:nvSpPr>
        <p:spPr>
          <a:xfrm>
            <a:off x="1005840" y="3566160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“Sifarişim haradadır?”, “pulum nə vaxt qayıdır?” — eyni suallar gecə-gündüz təkrarlanır, cavab növbədə gözləyir.</a:t>
            </a:r>
            <a:endParaRPr lang="en-US" sz="1500" dirty="0"/>
          </a:p>
        </p:txBody>
      </p:sp>
      <p:sp>
        <p:nvSpPr>
          <p:cNvPr id="10" name="anim_card1"/>
          <p:cNvSpPr/>
          <p:nvPr/>
        </p:nvSpPr>
        <p:spPr>
          <a:xfrm>
            <a:off x="4343400" y="1600200"/>
            <a:ext cx="3429000" cy="3931920"/>
          </a:xfrm>
          <a:prstGeom prst="roundRect">
            <a:avLst>
              <a:gd name="adj" fmla="val 5867"/>
            </a:avLst>
          </a:prstGeom>
          <a:solidFill>
            <a:schemeClr val="bg1">
              <a:alpha val="65000"/>
            </a:schemeClr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228600" dist="76200" dir="5400000">
              <a:srgbClr val="0F2A33">
                <a:alpha val="18000"/>
              </a:srgbClr>
            </a:outerShdw>
          </a:effectLst>
        </p:spPr>
      </p:sp>
      <p:sp>
        <p:nvSpPr>
          <p:cNvPr id="11" name="anim_ic1_bg"/>
          <p:cNvSpPr/>
          <p:nvPr/>
        </p:nvSpPr>
        <p:spPr>
          <a:xfrm>
            <a:off x="4709160" y="19659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anim_ic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0094" y="2126894"/>
            <a:ext cx="409651" cy="409651"/>
          </a:xfrm>
          <a:prstGeom prst="rect">
            <a:avLst/>
          </a:prstGeom>
        </p:spPr>
      </p:pic>
      <p:sp>
        <p:nvSpPr>
          <p:cNvPr id="13" name="anim_h1"/>
          <p:cNvSpPr txBox="1"/>
          <p:nvPr/>
        </p:nvSpPr>
        <p:spPr>
          <a:xfrm>
            <a:off x="4709160" y="29260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Şəkil və zəng əl ilə</a:t>
            </a:r>
            <a:endParaRPr lang="en-US" sz="2200" dirty="0"/>
          </a:p>
        </p:txBody>
      </p:sp>
      <p:sp>
        <p:nvSpPr>
          <p:cNvPr id="14" name="anim_p1"/>
          <p:cNvSpPr txBox="1"/>
          <p:nvPr/>
        </p:nvSpPr>
        <p:spPr>
          <a:xfrm>
            <a:off x="4709160" y="3566160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Zədəli məhsulun şəkli, telefon zəngi, qəbz — operator hər birinə baxıb sistemdə əl ilə qərar verir.</a:t>
            </a:r>
            <a:endParaRPr lang="en-US" sz="1500" dirty="0"/>
          </a:p>
        </p:txBody>
      </p:sp>
      <p:sp>
        <p:nvSpPr>
          <p:cNvPr id="15" name="anim_card2"/>
          <p:cNvSpPr/>
          <p:nvPr/>
        </p:nvSpPr>
        <p:spPr>
          <a:xfrm>
            <a:off x="8046720" y="1600200"/>
            <a:ext cx="3429000" cy="3931920"/>
          </a:xfrm>
          <a:prstGeom prst="roundRect">
            <a:avLst>
              <a:gd name="adj" fmla="val 5867"/>
            </a:avLst>
          </a:prstGeom>
          <a:solidFill>
            <a:schemeClr val="bg1">
              <a:alpha val="65000"/>
            </a:schemeClr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228600" dist="76200" dir="5400000">
              <a:srgbClr val="0F2A33">
                <a:alpha val="18000"/>
              </a:srgbClr>
            </a:outerShdw>
          </a:effectLst>
        </p:spPr>
      </p:sp>
      <p:sp>
        <p:nvSpPr>
          <p:cNvPr id="16" name="anim_ic2_bg"/>
          <p:cNvSpPr/>
          <p:nvPr/>
        </p:nvSpPr>
        <p:spPr>
          <a:xfrm>
            <a:off x="8412480" y="196596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7" name="anim_ic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3414" y="2126894"/>
            <a:ext cx="409651" cy="409651"/>
          </a:xfrm>
          <a:prstGeom prst="rect">
            <a:avLst/>
          </a:prstGeom>
        </p:spPr>
      </p:pic>
      <p:sp>
        <p:nvSpPr>
          <p:cNvPr id="18" name="anim_h2"/>
          <p:cNvSpPr txBox="1"/>
          <p:nvPr/>
        </p:nvSpPr>
        <p:spPr>
          <a:xfrm>
            <a:off x="8412480" y="29260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Əl ilə hesabat</a:t>
            </a:r>
            <a:endParaRPr lang="en-US" sz="2200" dirty="0"/>
          </a:p>
        </p:txBody>
      </p:sp>
      <p:sp>
        <p:nvSpPr>
          <p:cNvPr id="19" name="anim_p2"/>
          <p:cNvSpPr txBox="1"/>
          <p:nvPr/>
        </p:nvSpPr>
        <p:spPr>
          <a:xfrm>
            <a:off x="8412480" y="3566160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Xülasə, kateqoriya, bilet, müştəriyə follow-up email — hər söhbətdən sonra dəqiqələr itir.</a:t>
            </a:r>
            <a:endParaRPr lang="en-US" sz="1500" dirty="0"/>
          </a:p>
        </p:txBody>
      </p:sp>
      <p:sp>
        <p:nvSpPr>
          <p:cNvPr id="20" name="anim_punch"/>
          <p:cNvSpPr txBox="1"/>
          <p:nvPr/>
        </p:nvSpPr>
        <p:spPr>
          <a:xfrm>
            <a:off x="640080" y="58064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1"/>
                </a:solidFill>
              </a:rPr>
              <a:t>Kiçik mağazanın 24/7 dəstək komandası saxlamağa imkanı yoxdur.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orbA" descr="/home/ali/Desktop/team-Chill/deck/assets/orb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0" y="3291840"/>
            <a:ext cx="1737360" cy="1737360"/>
          </a:xfrm>
          <a:prstGeom prst="rect">
            <a:avLst/>
          </a:prstGeom>
        </p:spPr>
      </p:pic>
      <p:pic>
        <p:nvPicPr>
          <p:cNvPr id="3" name="!!orbB" descr="/home/ali/Desktop/team-Chill/deck/assets/orb-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-1188720"/>
            <a:ext cx="1828800" cy="182880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1" type="title" hasCustomPrompt="1"/>
          </p:nvPr>
        </p:nvSpPr>
        <p:spPr>
          <a:xfrm>
            <a:off x="640080" y="3657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Tanış olun: Aysu</a:t>
            </a:r>
            <a:endParaRPr lang="en-US" sz="3600" dirty="0"/>
          </a:p>
        </p:txBody>
      </p:sp>
      <p:sp>
        <p:nvSpPr>
          <p:cNvPr id="5" name="anim_f0_bg"/>
          <p:cNvSpPr/>
          <p:nvPr/>
        </p:nvSpPr>
        <p:spPr>
          <a:xfrm>
            <a:off x="640080" y="14630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anim_f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898" y="1603858"/>
            <a:ext cx="358445" cy="358445"/>
          </a:xfrm>
          <a:prstGeom prst="rect">
            <a:avLst/>
          </a:prstGeom>
        </p:spPr>
      </p:pic>
      <p:sp>
        <p:nvSpPr>
          <p:cNvPr id="7" name="anim_fh0"/>
          <p:cNvSpPr txBox="1"/>
          <p:nvPr/>
        </p:nvSpPr>
        <p:spPr>
          <a:xfrm>
            <a:off x="1463040" y="144475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Chat + real hərəkət</a:t>
            </a:r>
            <a:endParaRPr lang="en-US" sz="2000" dirty="0"/>
          </a:p>
        </p:txBody>
      </p:sp>
      <p:sp>
        <p:nvSpPr>
          <p:cNvPr id="8" name="anim_fp0"/>
          <p:cNvSpPr txBox="1"/>
          <p:nvPr/>
        </p:nvSpPr>
        <p:spPr>
          <a:xfrm>
            <a:off x="1463040" y="184708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Gemma 4 function calling: sifarişi tapır, izləyir, qaytarma və bilet açır</a:t>
            </a:r>
            <a:endParaRPr lang="en-US" sz="1400" dirty="0"/>
          </a:p>
        </p:txBody>
      </p:sp>
      <p:sp>
        <p:nvSpPr>
          <p:cNvPr id="9" name="anim_f1_bg"/>
          <p:cNvSpPr/>
          <p:nvPr/>
        </p:nvSpPr>
        <p:spPr>
          <a:xfrm>
            <a:off x="640080" y="2633472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anim_f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898" y="2774290"/>
            <a:ext cx="358445" cy="358445"/>
          </a:xfrm>
          <a:prstGeom prst="rect">
            <a:avLst/>
          </a:prstGeom>
        </p:spPr>
      </p:pic>
      <p:sp>
        <p:nvSpPr>
          <p:cNvPr id="11" name="anim_fh1"/>
          <p:cNvSpPr txBox="1"/>
          <p:nvPr/>
        </p:nvSpPr>
        <p:spPr>
          <a:xfrm>
            <a:off x="1463040" y="261518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Şəkli görür</a:t>
            </a:r>
            <a:endParaRPr lang="en-US" sz="2000" dirty="0"/>
          </a:p>
        </p:txBody>
      </p:sp>
      <p:sp>
        <p:nvSpPr>
          <p:cNvPr id="12" name="anim_fp1"/>
          <p:cNvSpPr txBox="1"/>
          <p:nvPr/>
        </p:nvSpPr>
        <p:spPr>
          <a:xfrm>
            <a:off x="1463040" y="301752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Zədəli məhsulun şəkli → Gemma 4 vision → qərar</a:t>
            </a:r>
            <a:endParaRPr lang="en-US" sz="1400" dirty="0"/>
          </a:p>
        </p:txBody>
      </p:sp>
      <p:sp>
        <p:nvSpPr>
          <p:cNvPr id="13" name="anim_f2_bg"/>
          <p:cNvSpPr/>
          <p:nvPr/>
        </p:nvSpPr>
        <p:spPr>
          <a:xfrm>
            <a:off x="640080" y="3803904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anim_f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898" y="3944722"/>
            <a:ext cx="358445" cy="358445"/>
          </a:xfrm>
          <a:prstGeom prst="rect">
            <a:avLst/>
          </a:prstGeom>
        </p:spPr>
      </p:pic>
      <p:sp>
        <p:nvSpPr>
          <p:cNvPr id="15" name="anim_fh2"/>
          <p:cNvSpPr txBox="1"/>
          <p:nvPr/>
        </p:nvSpPr>
        <p:spPr>
          <a:xfrm>
            <a:off x="1463040" y="3785616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Səsli zəng, 3D Aysu</a:t>
            </a:r>
            <a:endParaRPr lang="en-US" sz="2000" dirty="0"/>
          </a:p>
        </p:txBody>
      </p:sp>
      <p:sp>
        <p:nvSpPr>
          <p:cNvPr id="16" name="anim_fp2"/>
          <p:cNvSpPr txBox="1"/>
          <p:nvPr/>
        </p:nvSpPr>
        <p:spPr>
          <a:xfrm>
            <a:off x="1463040" y="418795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Lipsync, tona görə emosiya, Azərbaycan dilində</a:t>
            </a:r>
            <a:endParaRPr lang="en-US" sz="1400" dirty="0"/>
          </a:p>
        </p:txBody>
      </p:sp>
      <p:sp>
        <p:nvSpPr>
          <p:cNvPr id="17" name="anim_f3_bg"/>
          <p:cNvSpPr/>
          <p:nvPr/>
        </p:nvSpPr>
        <p:spPr>
          <a:xfrm>
            <a:off x="640080" y="4974336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8" name="anim_f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0898" y="5115154"/>
            <a:ext cx="358445" cy="358445"/>
          </a:xfrm>
          <a:prstGeom prst="rect">
            <a:avLst/>
          </a:prstGeom>
        </p:spPr>
      </p:pic>
      <p:sp>
        <p:nvSpPr>
          <p:cNvPr id="19" name="anim_fh3"/>
          <p:cNvSpPr txBox="1"/>
          <p:nvPr/>
        </p:nvSpPr>
        <p:spPr>
          <a:xfrm>
            <a:off x="1463040" y="495604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Avtomatlaşdırma</a:t>
            </a:r>
            <a:endParaRPr lang="en-US" sz="2000" dirty="0"/>
          </a:p>
        </p:txBody>
      </p:sp>
      <p:sp>
        <p:nvSpPr>
          <p:cNvPr id="20" name="anim_fp3"/>
          <p:cNvSpPr txBox="1"/>
          <p:nvPr/>
        </p:nvSpPr>
        <p:spPr>
          <a:xfrm>
            <a:off x="1463040" y="5358384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Xülasə, prioritet, avto-bilet, follow-up email</a:t>
            </a:r>
            <a:endParaRPr lang="en-US" sz="1400" dirty="0"/>
          </a:p>
        </p:txBody>
      </p:sp>
      <p:pic>
        <p:nvPicPr>
          <p:cNvPr id="21" name="Image 6" descr="/home/ali/Desktop/team-Chill/deck/assets/ripples-light.png">    </p:cNvPr>
          <p:cNvPicPr>
            <a:picLocks noChangeAspect="1"/>
          </p:cNvPicPr>
          <p:nvPr/>
        </p:nvPicPr>
        <p:blipFill>
          <a:blip r:embed="rId7">
            <a:alphaModFix amt="85000"/>
          </a:blip>
          <a:stretch>
            <a:fillRect/>
          </a:stretch>
        </p:blipFill>
        <p:spPr>
          <a:xfrm>
            <a:off x="5989320" y="2377440"/>
            <a:ext cx="5852160" cy="5852160"/>
          </a:xfrm>
          <a:prstGeom prst="rect">
            <a:avLst/>
          </a:prstGeom>
        </p:spPr>
      </p:pic>
      <p:pic>
        <p:nvPicPr>
          <p:cNvPr id="22" name="anim_aysu" descr="/home/ali/Desktop/team-Chill/deck/assets/07-aysu-portrait-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86600" y="1280160"/>
            <a:ext cx="3611880" cy="4303517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F2A33">
                <a:alpha val="18000"/>
              </a:srgbClr>
            </a:outerShdw>
          </a:effectLst>
        </p:spPr>
      </p:pic>
      <p:sp>
        <p:nvSpPr>
          <p:cNvPr id="23" name="anim_badge"/>
          <p:cNvSpPr/>
          <p:nvPr/>
        </p:nvSpPr>
        <p:spPr>
          <a:xfrm>
            <a:off x="7315200" y="5532120"/>
            <a:ext cx="3154680" cy="502920"/>
          </a:xfrm>
          <a:prstGeom prst="roundRect">
            <a:avLst>
              <a:gd name="adj" fmla="val 49091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228600" dist="76200" dir="5400000">
              <a:srgbClr val="0F2A33">
                <a:alpha val="18000"/>
              </a:srgbClr>
            </a:outerShdw>
          </a:effectLst>
        </p:spPr>
      </p:sp>
      <p:sp>
        <p:nvSpPr>
          <p:cNvPr id="24" name="anim_badget"/>
          <p:cNvSpPr txBox="1"/>
          <p:nvPr/>
        </p:nvSpPr>
        <p:spPr>
          <a:xfrm>
            <a:off x="7315200" y="55321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Aysu</a:t>
            </a:r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  ·  Mallard dəstək agenti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orbA" descr="/home/ali/Desktop/team-Chill/deck/assets/orb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005840" y="5120640"/>
            <a:ext cx="2377440" cy="2377440"/>
          </a:xfrm>
          <a:prstGeom prst="rect">
            <a:avLst/>
          </a:prstGeom>
        </p:spPr>
      </p:pic>
      <p:pic>
        <p:nvPicPr>
          <p:cNvPr id="3" name="!!orbB" descr="/home/ali/Desktop/team-Chill/deck/assets/orb-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-731520"/>
            <a:ext cx="2011680" cy="201168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1" type="title" hasCustomPrompt="1"/>
          </p:nvPr>
        </p:nvSpPr>
        <p:spPr>
          <a:xfrm>
            <a:off x="640080" y="3657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Şəkil göndər, həll al</a:t>
            </a:r>
            <a:endParaRPr lang="en-US" sz="3600" dirty="0"/>
          </a:p>
        </p:txBody>
      </p:sp>
      <p:pic>
        <p:nvPicPr>
          <p:cNvPr id="5" name="anim_photo" descr="/home/ali/Desktop/team-Chill/deck/assets/damaged-headphones-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54480"/>
            <a:ext cx="3017520" cy="2010423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F2A33">
                <a:alpha val="18000"/>
              </a:srgbClr>
            </a:outerShdw>
          </a:effectLst>
        </p:spPr>
      </p:pic>
      <p:sp>
        <p:nvSpPr>
          <p:cNvPr id="6" name="anim_photocap"/>
          <p:cNvSpPr txBox="1"/>
          <p:nvPr/>
        </p:nvSpPr>
        <p:spPr>
          <a:xfrm>
            <a:off x="640080" y="36576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Müştərinin göndərdiyi şəkil</a:t>
            </a:r>
            <a:endParaRPr lang="en-US" sz="1200" dirty="0"/>
          </a:p>
        </p:txBody>
      </p:sp>
      <p:pic>
        <p:nvPicPr>
          <p:cNvPr id="7" name="anim_chat" descr="/home/ali/Desktop/team-Chill/deck/assets/03-chat-photo-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7640" y="1280160"/>
            <a:ext cx="3017520" cy="5080344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F2A33">
                <a:alpha val="18000"/>
              </a:srgbClr>
            </a:outerShdw>
          </a:effectLst>
        </p:spPr>
      </p:pic>
      <p:sp>
        <p:nvSpPr>
          <p:cNvPr id="8" name="anim_n0"/>
          <p:cNvSpPr/>
          <p:nvPr/>
        </p:nvSpPr>
        <p:spPr>
          <a:xfrm>
            <a:off x="7406640" y="1463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anim_nt0"/>
          <p:cNvSpPr txBox="1"/>
          <p:nvPr/>
        </p:nvSpPr>
        <p:spPr>
          <a:xfrm>
            <a:off x="740664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anim_sh0"/>
          <p:cNvSpPr txBox="1"/>
          <p:nvPr/>
        </p:nvSpPr>
        <p:spPr>
          <a:xfrm>
            <a:off x="8046720" y="144475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Gemma 4 şəkli görür</a:t>
            </a:r>
            <a:endParaRPr lang="en-US" sz="1700" dirty="0"/>
          </a:p>
        </p:txBody>
      </p:sp>
      <p:sp>
        <p:nvSpPr>
          <p:cNvPr id="11" name="anim_sp0"/>
          <p:cNvSpPr txBox="1"/>
          <p:nvPr/>
        </p:nvSpPr>
        <p:spPr>
          <a:xfrm>
            <a:off x="8046720" y="18288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“sol qulaqcıqda çat” → photo_assessment</a:t>
            </a:r>
            <a:endParaRPr lang="en-US" sz="1300" dirty="0"/>
          </a:p>
        </p:txBody>
      </p:sp>
      <p:sp>
        <p:nvSpPr>
          <p:cNvPr id="12" name="anim_n1"/>
          <p:cNvSpPr/>
          <p:nvPr/>
        </p:nvSpPr>
        <p:spPr>
          <a:xfrm>
            <a:off x="7406640" y="257860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anim_nt1"/>
          <p:cNvSpPr txBox="1"/>
          <p:nvPr/>
        </p:nvSpPr>
        <p:spPr>
          <a:xfrm>
            <a:off x="7406640" y="2578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anim_sh1"/>
          <p:cNvSpPr txBox="1"/>
          <p:nvPr/>
        </p:nvSpPr>
        <p:spPr>
          <a:xfrm>
            <a:off x="8046720" y="2560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list_orders → get_order</a:t>
            </a:r>
            <a:endParaRPr lang="en-US" sz="1700" dirty="0"/>
          </a:p>
        </p:txBody>
      </p:sp>
      <p:sp>
        <p:nvSpPr>
          <p:cNvPr id="15" name="anim_sp1"/>
          <p:cNvSpPr txBox="1"/>
          <p:nvPr/>
        </p:nvSpPr>
        <p:spPr>
          <a:xfrm>
            <a:off x="8046720" y="294436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Leyla-nın ML-1042 sifarişini Neon-dan tapır</a:t>
            </a:r>
            <a:endParaRPr lang="en-US" sz="1300" dirty="0"/>
          </a:p>
        </p:txBody>
      </p:sp>
      <p:sp>
        <p:nvSpPr>
          <p:cNvPr id="16" name="anim_n2"/>
          <p:cNvSpPr/>
          <p:nvPr/>
        </p:nvSpPr>
        <p:spPr>
          <a:xfrm>
            <a:off x="7406640" y="369417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anim_nt2"/>
          <p:cNvSpPr txBox="1"/>
          <p:nvPr/>
        </p:nvSpPr>
        <p:spPr>
          <a:xfrm>
            <a:off x="7406640" y="3694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anim_sh2"/>
          <p:cNvSpPr txBox="1"/>
          <p:nvPr/>
        </p:nvSpPr>
        <p:spPr>
          <a:xfrm>
            <a:off x="8046720" y="36758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create_return</a:t>
            </a:r>
            <a:endParaRPr lang="en-US" sz="1700" dirty="0"/>
          </a:p>
        </p:txBody>
      </p:sp>
      <p:sp>
        <p:nvSpPr>
          <p:cNvPr id="19" name="anim_sp2"/>
          <p:cNvSpPr txBox="1"/>
          <p:nvPr/>
        </p:nvSpPr>
        <p:spPr>
          <a:xfrm>
            <a:off x="8046720" y="4059936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Qayda mühərriki: 14 gün + zədə = pulsuz dəyişmə</a:t>
            </a:r>
            <a:endParaRPr lang="en-US" sz="1300" dirty="0"/>
          </a:p>
        </p:txBody>
      </p:sp>
      <p:sp>
        <p:nvSpPr>
          <p:cNvPr id="20" name="anim_n3"/>
          <p:cNvSpPr/>
          <p:nvPr/>
        </p:nvSpPr>
        <p:spPr>
          <a:xfrm>
            <a:off x="7406640" y="480974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anim_nt3"/>
          <p:cNvSpPr txBox="1"/>
          <p:nvPr/>
        </p:nvSpPr>
        <p:spPr>
          <a:xfrm>
            <a:off x="7406640" y="4809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anim_sh3"/>
          <p:cNvSpPr txBox="1"/>
          <p:nvPr/>
        </p:nvSpPr>
        <p:spPr>
          <a:xfrm>
            <a:off x="8046720" y="479145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Cavab + müraciət RT-…</a:t>
            </a:r>
            <a:endParaRPr lang="en-US" sz="1700" dirty="0"/>
          </a:p>
        </p:txBody>
      </p:sp>
      <p:sp>
        <p:nvSpPr>
          <p:cNvPr id="23" name="anim_sp3"/>
          <p:cNvSpPr txBox="1"/>
          <p:nvPr/>
        </p:nvSpPr>
        <p:spPr>
          <a:xfrm>
            <a:off x="8046720" y="5175504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Kuryer köhnəni götürür, yenisini gətirir</a:t>
            </a:r>
            <a:endParaRPr lang="en-US" sz="1300" dirty="0"/>
          </a:p>
        </p:txBody>
      </p:sp>
      <p:sp>
        <p:nvSpPr>
          <p:cNvPr id="24" name="anim_took"/>
          <p:cNvSpPr txBox="1"/>
          <p:nvPr/>
        </p:nvSpPr>
        <p:spPr>
          <a:xfrm>
            <a:off x="640080" y="42062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≈13 saniyə · 4 tool çağırışı · 0 operator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orbA" descr="/home/ali/Desktop/team-Chill/deck/assets/orb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5394960"/>
            <a:ext cx="2194560" cy="2194560"/>
          </a:xfrm>
          <a:prstGeom prst="rect">
            <a:avLst/>
          </a:prstGeom>
        </p:spPr>
      </p:pic>
      <p:pic>
        <p:nvPicPr>
          <p:cNvPr id="3" name="!!orbB" descr="/home/ali/Desktop/team-Chill/deck/assets/orb-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731520"/>
            <a:ext cx="1463040" cy="146304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1" type="title" hasCustomPrompt="1"/>
          </p:nvPr>
        </p:nvSpPr>
        <p:spPr>
          <a:xfrm>
            <a:off x="640080" y="3657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Zəng kimi: səsli Aysu</a:t>
            </a:r>
            <a:endParaRPr lang="en-US" sz="3600" dirty="0"/>
          </a:p>
        </p:txBody>
      </p:sp>
      <p:pic>
        <p:nvPicPr>
          <p:cNvPr id="5" name="anim_ring" descr="/home/ali/Desktop/team-Chill/deck/assets/04-call-ringing-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71600"/>
            <a:ext cx="2606040" cy="4116082"/>
          </a:xfrm>
          <a:prstGeom prst="rect">
            <a:avLst/>
          </a:prstGeom>
        </p:spPr>
      </p:pic>
      <p:pic>
        <p:nvPicPr>
          <p:cNvPr id="6" name="anim_live" descr="/home/ali/Desktop/team-Chill/deck/assets/05-call-aysu-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0440" y="1371600"/>
            <a:ext cx="2971800" cy="4693778"/>
          </a:xfrm>
          <a:prstGeom prst="rect">
            <a:avLst/>
          </a:prstGeom>
        </p:spPr>
      </p:pic>
      <p:sp>
        <p:nvSpPr>
          <p:cNvPr id="7" name="anim_v0_bg"/>
          <p:cNvSpPr/>
          <p:nvPr/>
        </p:nvSpPr>
        <p:spPr>
          <a:xfrm>
            <a:off x="6903720" y="14630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anim_v0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8444" y="1587764"/>
            <a:ext cx="317480" cy="317480"/>
          </a:xfrm>
          <a:prstGeom prst="rect">
            <a:avLst/>
          </a:prstGeom>
        </p:spPr>
      </p:pic>
      <p:sp>
        <p:nvSpPr>
          <p:cNvPr id="9" name="anim_vh0"/>
          <p:cNvSpPr txBox="1"/>
          <p:nvPr/>
        </p:nvSpPr>
        <p:spPr>
          <a:xfrm>
            <a:off x="7680960" y="144475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Beyin Gemma 4-dür</a:t>
            </a:r>
            <a:endParaRPr lang="en-US" sz="1800" dirty="0"/>
          </a:p>
        </p:txBody>
      </p:sp>
      <p:sp>
        <p:nvSpPr>
          <p:cNvPr id="10" name="anim_vp0"/>
          <p:cNvSpPr txBox="1"/>
          <p:nvPr/>
        </p:nvSpPr>
        <p:spPr>
          <a:xfrm>
            <a:off x="7680960" y="18288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ElevenLabs yalnız STT/TTS; cavabı bizim Custom LLM endpoint verir</a:t>
            </a:r>
            <a:endParaRPr lang="en-US" sz="1300" dirty="0"/>
          </a:p>
        </p:txBody>
      </p:sp>
      <p:sp>
        <p:nvSpPr>
          <p:cNvPr id="11" name="anim_v1_bg"/>
          <p:cNvSpPr/>
          <p:nvPr/>
        </p:nvSpPr>
        <p:spPr>
          <a:xfrm>
            <a:off x="6903720" y="26060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anim_v1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28444" y="2730764"/>
            <a:ext cx="317480" cy="317480"/>
          </a:xfrm>
          <a:prstGeom prst="rect">
            <a:avLst/>
          </a:prstGeom>
        </p:spPr>
      </p:pic>
      <p:sp>
        <p:nvSpPr>
          <p:cNvPr id="13" name="anim_vh1"/>
          <p:cNvSpPr txBox="1"/>
          <p:nvPr/>
        </p:nvSpPr>
        <p:spPr>
          <a:xfrm>
            <a:off x="7680960" y="258775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Hərf səviyyəsində lipsync</a:t>
            </a:r>
            <a:endParaRPr lang="en-US" sz="1800" dirty="0"/>
          </a:p>
        </p:txBody>
      </p:sp>
      <p:sp>
        <p:nvSpPr>
          <p:cNvPr id="14" name="anim_vp1"/>
          <p:cNvSpPr txBox="1"/>
          <p:nvPr/>
        </p:nvSpPr>
        <p:spPr>
          <a:xfrm>
            <a:off x="7680960" y="29718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Hər səs hissəsinin hərf zamanlaması + səsin real gücü</a:t>
            </a:r>
            <a:endParaRPr lang="en-US" sz="1300" dirty="0"/>
          </a:p>
        </p:txBody>
      </p:sp>
      <p:sp>
        <p:nvSpPr>
          <p:cNvPr id="15" name="anim_v2_bg"/>
          <p:cNvSpPr/>
          <p:nvPr/>
        </p:nvSpPr>
        <p:spPr>
          <a:xfrm>
            <a:off x="6903720" y="3749040"/>
            <a:ext cx="566928" cy="56692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6" name="anim_v2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28444" y="3873764"/>
            <a:ext cx="317480" cy="317480"/>
          </a:xfrm>
          <a:prstGeom prst="rect">
            <a:avLst/>
          </a:prstGeom>
        </p:spPr>
      </p:pic>
      <p:sp>
        <p:nvSpPr>
          <p:cNvPr id="17" name="anim_vh2"/>
          <p:cNvSpPr txBox="1"/>
          <p:nvPr/>
        </p:nvSpPr>
        <p:spPr>
          <a:xfrm>
            <a:off x="7680960" y="373075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Tona görə emosiya</a:t>
            </a:r>
            <a:endParaRPr lang="en-US" sz="1800" dirty="0"/>
          </a:p>
        </p:txBody>
      </p:sp>
      <p:sp>
        <p:nvSpPr>
          <p:cNvPr id="18" name="anim_vp2"/>
          <p:cNvSpPr txBox="1"/>
          <p:nvPr/>
        </p:nvSpPr>
        <p:spPr>
          <a:xfrm>
            <a:off x="7680960" y="41148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[empathetically] səsi də, üzü də dəyişir</a:t>
            </a:r>
            <a:endParaRPr lang="en-US" sz="1300" dirty="0"/>
          </a:p>
        </p:txBody>
      </p:sp>
      <p:sp>
        <p:nvSpPr>
          <p:cNvPr id="19" name="anim_v3_bg"/>
          <p:cNvSpPr/>
          <p:nvPr/>
        </p:nvSpPr>
        <p:spPr>
          <a:xfrm>
            <a:off x="6903720" y="48920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anim_v3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28444" y="5016764"/>
            <a:ext cx="317480" cy="317480"/>
          </a:xfrm>
          <a:prstGeom prst="rect">
            <a:avLst/>
          </a:prstGeom>
        </p:spPr>
      </p:pic>
      <p:sp>
        <p:nvSpPr>
          <p:cNvPr id="21" name="anim_vh3"/>
          <p:cNvSpPr txBox="1"/>
          <p:nvPr/>
        </p:nvSpPr>
        <p:spPr>
          <a:xfrm>
            <a:off x="7680960" y="487375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Real zəng hissi</a:t>
            </a:r>
            <a:endParaRPr lang="en-US" sz="1800" dirty="0"/>
          </a:p>
        </p:txBody>
      </p:sp>
      <p:sp>
        <p:nvSpPr>
          <p:cNvPr id="22" name="anim_vp3"/>
          <p:cNvSpPr txBox="1"/>
          <p:nvPr/>
        </p:nvSpPr>
        <p:spPr>
          <a:xfrm>
            <a:off x="7680960" y="52578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425 Hz “duut… duut”, qoşulanda Aysu görünür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orbA" descr="/home/ali/Desktop/team-Chill/deck/assets/orb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5303520"/>
            <a:ext cx="2011680" cy="2011680"/>
          </a:xfrm>
          <a:prstGeom prst="rect">
            <a:avLst/>
          </a:prstGeom>
        </p:spPr>
      </p:pic>
      <p:pic>
        <p:nvPicPr>
          <p:cNvPr id="3" name="!!orbB" descr="/home/ali/Desktop/team-Chill/deck/assets/orb-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14400" y="2377440"/>
            <a:ext cx="1737360" cy="173736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1" type="title" hasCustomPrompt="1"/>
          </p:nvPr>
        </p:nvSpPr>
        <p:spPr>
          <a:xfrm>
            <a:off x="640080" y="3657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Söhbət bitir, iş özü görülür</a:t>
            </a:r>
            <a:endParaRPr lang="en-US" sz="3600" dirty="0"/>
          </a:p>
        </p:txBody>
      </p:sp>
      <p:pic>
        <p:nvPicPr>
          <p:cNvPr id="5" name="anim_dash" descr="/home/ali/Desktop/team-Chill/deck/assets/06-dashboard-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17320"/>
            <a:ext cx="7406640" cy="365510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F2A33">
                <a:alpha val="18000"/>
              </a:srgbClr>
            </a:outerShdw>
          </a:effectLst>
        </p:spPr>
      </p:pic>
      <p:sp>
        <p:nvSpPr>
          <p:cNvPr id="6" name="anim_jsoncard"/>
          <p:cNvSpPr/>
          <p:nvPr/>
        </p:nvSpPr>
        <p:spPr>
          <a:xfrm>
            <a:off x="8412480" y="1417320"/>
            <a:ext cx="3154680" cy="4343400"/>
          </a:xfrm>
          <a:prstGeom prst="roundRect">
            <a:avLst>
              <a:gd name="adj" fmla="val 6377"/>
            </a:avLst>
          </a:prstGeom>
          <a:solidFill>
            <a:schemeClr val="bg1">
              <a:alpha val="65000"/>
            </a:schemeClr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228600" dist="76200" dir="5400000">
              <a:srgbClr val="0F2A33">
                <a:alpha val="18000"/>
              </a:srgbClr>
            </a:outerShdw>
          </a:effectLst>
        </p:spPr>
      </p:sp>
      <p:sp>
        <p:nvSpPr>
          <p:cNvPr id="7" name="anim_jsonh"/>
          <p:cNvSpPr txBox="1"/>
          <p:nvPr/>
        </p:nvSpPr>
        <p:spPr>
          <a:xfrm>
            <a:off x="8686800" y="16459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Gemma 4 → JSON</a:t>
            </a:r>
            <a:endParaRPr lang="en-US" sz="1800" dirty="0"/>
          </a:p>
        </p:txBody>
      </p:sp>
      <p:sp>
        <p:nvSpPr>
          <p:cNvPr id="8" name="anim_o0"/>
          <p:cNvSpPr/>
          <p:nvPr/>
        </p:nvSpPr>
        <p:spPr>
          <a:xfrm>
            <a:off x="8686800" y="2148840"/>
            <a:ext cx="2606040" cy="310896"/>
          </a:xfrm>
          <a:prstGeom prst="roundRect">
            <a:avLst>
              <a:gd name="adj" fmla="val 50000"/>
            </a:avLst>
          </a:prstGeom>
          <a:solidFill>
            <a:schemeClr val="accent1">
              <a:alpha val="15000"/>
            </a:schemeClr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sp>
        <p:nvSpPr>
          <p:cNvPr id="9" name="anim_ot0"/>
          <p:cNvSpPr txBox="1"/>
          <p:nvPr/>
        </p:nvSpPr>
        <p:spPr>
          <a:xfrm>
            <a:off x="8823960" y="214884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Xülasə</a:t>
            </a:r>
            <a:endParaRPr lang="en-US" sz="1200" dirty="0"/>
          </a:p>
        </p:txBody>
      </p:sp>
      <p:sp>
        <p:nvSpPr>
          <p:cNvPr id="10" name="anim_o1"/>
          <p:cNvSpPr/>
          <p:nvPr/>
        </p:nvSpPr>
        <p:spPr>
          <a:xfrm>
            <a:off x="8686800" y="2532888"/>
            <a:ext cx="2606040" cy="310896"/>
          </a:xfrm>
          <a:prstGeom prst="roundRect">
            <a:avLst>
              <a:gd name="adj" fmla="val 50000"/>
            </a:avLst>
          </a:prstGeom>
          <a:solidFill>
            <a:schemeClr val="accent1">
              <a:alpha val="15000"/>
            </a:schemeClr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sp>
        <p:nvSpPr>
          <p:cNvPr id="11" name="anim_ot1"/>
          <p:cNvSpPr txBox="1"/>
          <p:nvPr/>
        </p:nvSpPr>
        <p:spPr>
          <a:xfrm>
            <a:off x="8823960" y="253288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Kateqoriya</a:t>
            </a:r>
            <a:endParaRPr lang="en-US" sz="1200" dirty="0"/>
          </a:p>
        </p:txBody>
      </p:sp>
      <p:sp>
        <p:nvSpPr>
          <p:cNvPr id="12" name="anim_o2"/>
          <p:cNvSpPr/>
          <p:nvPr/>
        </p:nvSpPr>
        <p:spPr>
          <a:xfrm>
            <a:off x="8686800" y="2916936"/>
            <a:ext cx="2606040" cy="310896"/>
          </a:xfrm>
          <a:prstGeom prst="roundRect">
            <a:avLst>
              <a:gd name="adj" fmla="val 50000"/>
            </a:avLst>
          </a:prstGeom>
          <a:solidFill>
            <a:schemeClr val="accent1">
              <a:alpha val="15000"/>
            </a:schemeClr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sp>
        <p:nvSpPr>
          <p:cNvPr id="13" name="anim_ot2"/>
          <p:cNvSpPr txBox="1"/>
          <p:nvPr/>
        </p:nvSpPr>
        <p:spPr>
          <a:xfrm>
            <a:off x="8823960" y="291693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Təcililik</a:t>
            </a:r>
            <a:endParaRPr lang="en-US" sz="1200" dirty="0"/>
          </a:p>
        </p:txBody>
      </p:sp>
      <p:sp>
        <p:nvSpPr>
          <p:cNvPr id="14" name="anim_o3"/>
          <p:cNvSpPr/>
          <p:nvPr/>
        </p:nvSpPr>
        <p:spPr>
          <a:xfrm>
            <a:off x="8686800" y="3300984"/>
            <a:ext cx="2606040" cy="310896"/>
          </a:xfrm>
          <a:prstGeom prst="roundRect">
            <a:avLst>
              <a:gd name="adj" fmla="val 50000"/>
            </a:avLst>
          </a:prstGeom>
          <a:solidFill>
            <a:schemeClr val="accent1">
              <a:alpha val="15000"/>
            </a:schemeClr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sp>
        <p:nvSpPr>
          <p:cNvPr id="15" name="anim_ot3"/>
          <p:cNvSpPr txBox="1"/>
          <p:nvPr/>
        </p:nvSpPr>
        <p:spPr>
          <a:xfrm>
            <a:off x="8823960" y="330098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Emosiya</a:t>
            </a:r>
            <a:endParaRPr lang="en-US" sz="1200" dirty="0"/>
          </a:p>
        </p:txBody>
      </p:sp>
      <p:sp>
        <p:nvSpPr>
          <p:cNvPr id="16" name="anim_o4"/>
          <p:cNvSpPr/>
          <p:nvPr/>
        </p:nvSpPr>
        <p:spPr>
          <a:xfrm>
            <a:off x="8686800" y="3685032"/>
            <a:ext cx="2606040" cy="310896"/>
          </a:xfrm>
          <a:prstGeom prst="roundRect">
            <a:avLst>
              <a:gd name="adj" fmla="val 50000"/>
            </a:avLst>
          </a:prstGeom>
          <a:solidFill>
            <a:schemeClr val="accent1">
              <a:alpha val="15000"/>
            </a:schemeClr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sp>
        <p:nvSpPr>
          <p:cNvPr id="17" name="anim_ot4"/>
          <p:cNvSpPr txBox="1"/>
          <p:nvPr/>
        </p:nvSpPr>
        <p:spPr>
          <a:xfrm>
            <a:off x="8823960" y="368503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Həll olundu?</a:t>
            </a:r>
            <a:endParaRPr lang="en-US" sz="1200" dirty="0"/>
          </a:p>
        </p:txBody>
      </p:sp>
      <p:sp>
        <p:nvSpPr>
          <p:cNvPr id="18" name="anim_o5"/>
          <p:cNvSpPr/>
          <p:nvPr/>
        </p:nvSpPr>
        <p:spPr>
          <a:xfrm>
            <a:off x="8686800" y="4069080"/>
            <a:ext cx="2606040" cy="310896"/>
          </a:xfrm>
          <a:prstGeom prst="roundRect">
            <a:avLst>
              <a:gd name="adj" fmla="val 50000"/>
            </a:avLst>
          </a:prstGeom>
          <a:solidFill>
            <a:schemeClr val="accent1">
              <a:alpha val="15000"/>
            </a:schemeClr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sp>
        <p:nvSpPr>
          <p:cNvPr id="19" name="anim_ot5"/>
          <p:cNvSpPr txBox="1"/>
          <p:nvPr/>
        </p:nvSpPr>
        <p:spPr>
          <a:xfrm>
            <a:off x="8823960" y="406908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İnsan lazımdır?</a:t>
            </a:r>
            <a:endParaRPr lang="en-US" sz="1200" dirty="0"/>
          </a:p>
        </p:txBody>
      </p:sp>
      <p:sp>
        <p:nvSpPr>
          <p:cNvPr id="20" name="anim_o6"/>
          <p:cNvSpPr/>
          <p:nvPr/>
        </p:nvSpPr>
        <p:spPr>
          <a:xfrm>
            <a:off x="8686800" y="4453128"/>
            <a:ext cx="2606040" cy="310896"/>
          </a:xfrm>
          <a:prstGeom prst="roundRect">
            <a:avLst>
              <a:gd name="adj" fmla="val 50000"/>
            </a:avLst>
          </a:prstGeom>
          <a:solidFill>
            <a:schemeClr val="accent3">
              <a:alpha val="15000"/>
            </a:schemeClr>
          </a:solidFill>
          <a:ln w="9525">
            <a:solidFill>
              <a:schemeClr val="accent3">
                <a:alpha val="60000"/>
              </a:schemeClr>
            </a:solidFill>
            <a:prstDash val="solid"/>
          </a:ln>
        </p:spPr>
      </p:sp>
      <p:sp>
        <p:nvSpPr>
          <p:cNvPr id="21" name="anim_ot6"/>
          <p:cNvSpPr txBox="1"/>
          <p:nvPr/>
        </p:nvSpPr>
        <p:spPr>
          <a:xfrm>
            <a:off x="8823960" y="445312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Avto-bilet</a:t>
            </a:r>
            <a:endParaRPr lang="en-US" sz="1200" dirty="0"/>
          </a:p>
        </p:txBody>
      </p:sp>
      <p:sp>
        <p:nvSpPr>
          <p:cNvPr id="22" name="anim_o7"/>
          <p:cNvSpPr/>
          <p:nvPr/>
        </p:nvSpPr>
        <p:spPr>
          <a:xfrm>
            <a:off x="8686800" y="4837176"/>
            <a:ext cx="2606040" cy="310896"/>
          </a:xfrm>
          <a:prstGeom prst="roundRect">
            <a:avLst>
              <a:gd name="adj" fmla="val 50000"/>
            </a:avLst>
          </a:prstGeom>
          <a:solidFill>
            <a:schemeClr val="accent3">
              <a:alpha val="15000"/>
            </a:schemeClr>
          </a:solidFill>
          <a:ln w="9525">
            <a:solidFill>
              <a:schemeClr val="accent3">
                <a:alpha val="60000"/>
              </a:schemeClr>
            </a:solidFill>
            <a:prstDash val="solid"/>
          </a:ln>
        </p:spPr>
      </p:sp>
      <p:sp>
        <p:nvSpPr>
          <p:cNvPr id="23" name="anim_ot7"/>
          <p:cNvSpPr txBox="1"/>
          <p:nvPr/>
        </p:nvSpPr>
        <p:spPr>
          <a:xfrm>
            <a:off x="8823960" y="483717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Follow-up email</a:t>
            </a:r>
            <a:endParaRPr lang="en-US" sz="1200" dirty="0"/>
          </a:p>
        </p:txBody>
      </p:sp>
      <p:sp>
        <p:nvSpPr>
          <p:cNvPr id="24" name="anim_o8"/>
          <p:cNvSpPr/>
          <p:nvPr/>
        </p:nvSpPr>
        <p:spPr>
          <a:xfrm>
            <a:off x="8686800" y="5221224"/>
            <a:ext cx="2606040" cy="310896"/>
          </a:xfrm>
          <a:prstGeom prst="roundRect">
            <a:avLst>
              <a:gd name="adj" fmla="val 50000"/>
            </a:avLst>
          </a:prstGeom>
          <a:solidFill>
            <a:schemeClr val="accent3">
              <a:alpha val="15000"/>
            </a:schemeClr>
          </a:solidFill>
          <a:ln w="9525">
            <a:solidFill>
              <a:schemeClr val="accent3">
                <a:alpha val="60000"/>
              </a:schemeClr>
            </a:solidFill>
            <a:prstDash val="solid"/>
          </a:ln>
        </p:spPr>
      </p:sp>
      <p:sp>
        <p:nvSpPr>
          <p:cNvPr id="25" name="anim_ot8"/>
          <p:cNvSpPr txBox="1"/>
          <p:nvPr/>
        </p:nvSpPr>
        <p:spPr>
          <a:xfrm>
            <a:off x="8823960" y="522122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KB boşluğu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orbA" descr="/home/ali/Desktop/team-Chill/deck/assets/orb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0" y="5577840"/>
            <a:ext cx="1645920" cy="1645920"/>
          </a:xfrm>
          <a:prstGeom prst="rect">
            <a:avLst/>
          </a:prstGeom>
        </p:spPr>
      </p:pic>
      <p:pic>
        <p:nvPicPr>
          <p:cNvPr id="3" name="!!orbB" descr="/home/ali/Desktop/team-Chill/deck/assets/orb-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-1097280"/>
            <a:ext cx="2194560" cy="219456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1" type="title" hasCustomPrompt="1"/>
          </p:nvPr>
        </p:nvSpPr>
        <p:spPr>
          <a:xfrm>
            <a:off x="640080" y="3657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Arxitektura</a:t>
            </a:r>
            <a:endParaRPr lang="en-US" sz="3600" dirty="0"/>
          </a:p>
        </p:txBody>
      </p:sp>
      <p:sp>
        <p:nvSpPr>
          <p:cNvPr id="5" name="anim_a0"/>
          <p:cNvSpPr/>
          <p:nvPr/>
        </p:nvSpPr>
        <p:spPr>
          <a:xfrm>
            <a:off x="640080" y="1554480"/>
            <a:ext cx="2926080" cy="109728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222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228600" dist="76200" dir="5400000">
              <a:srgbClr val="0F2A33">
                <a:alpha val="18000"/>
              </a:srgbClr>
            </a:outerShdw>
          </a:effectLst>
        </p:spPr>
      </p:sp>
      <p:sp>
        <p:nvSpPr>
          <p:cNvPr id="6" name="anim_a0_t"/>
          <p:cNvSpPr txBox="1"/>
          <p:nvPr/>
        </p:nvSpPr>
        <p:spPr>
          <a:xfrm>
            <a:off x="777240" y="1664208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Brauzer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Mallard mağaza · Aysu widget · ChillDesk panel</a:t>
            </a:r>
            <a:endParaRPr lang="en-US" sz="1600" dirty="0"/>
          </a:p>
        </p:txBody>
      </p:sp>
      <p:sp>
        <p:nvSpPr>
          <p:cNvPr id="7" name="anim_a1"/>
          <p:cNvSpPr/>
          <p:nvPr/>
        </p:nvSpPr>
        <p:spPr>
          <a:xfrm>
            <a:off x="640080" y="3383280"/>
            <a:ext cx="2926080" cy="109728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222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228600" dist="76200" dir="5400000">
              <a:srgbClr val="0F2A33">
                <a:alpha val="18000"/>
              </a:srgbClr>
            </a:outerShdw>
          </a:effectLst>
        </p:spPr>
      </p:sp>
      <p:sp>
        <p:nvSpPr>
          <p:cNvPr id="8" name="anim_a1_t"/>
          <p:cNvSpPr txBox="1"/>
          <p:nvPr/>
        </p:nvSpPr>
        <p:spPr>
          <a:xfrm>
            <a:off x="777240" y="3493008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ElevenLabs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STT (Scribe v2) · TTS · WebSocket</a:t>
            </a:r>
            <a:endParaRPr lang="en-US" sz="1600" dirty="0"/>
          </a:p>
        </p:txBody>
      </p:sp>
      <p:sp>
        <p:nvSpPr>
          <p:cNvPr id="9" name="anim_a2"/>
          <p:cNvSpPr/>
          <p:nvPr/>
        </p:nvSpPr>
        <p:spPr>
          <a:xfrm>
            <a:off x="4572000" y="2468880"/>
            <a:ext cx="3017520" cy="1188720"/>
          </a:xfrm>
          <a:prstGeom prst="roundRect">
            <a:avLst>
              <a:gd name="adj" fmla="val 13846"/>
            </a:avLst>
          </a:prstGeom>
          <a:solidFill>
            <a:schemeClr val="bg1"/>
          </a:solidFill>
          <a:ln w="22225">
            <a:solidFill>
              <a:schemeClr val="accent1"/>
            </a:solidFill>
            <a:prstDash val="solid"/>
          </a:ln>
          <a:effectLst>
            <a:outerShdw sx="100000" sy="100000" kx="0" ky="0" algn="bl" rotWithShape="0" blurRad="228600" dist="76200" dir="5400000">
              <a:srgbClr val="0F2A33">
                <a:alpha val="18000"/>
              </a:srgbClr>
            </a:outerShdw>
          </a:effectLst>
        </p:spPr>
      </p:sp>
      <p:sp>
        <p:nvSpPr>
          <p:cNvPr id="10" name="anim_a2_t"/>
          <p:cNvSpPr txBox="1"/>
          <p:nvPr/>
        </p:nvSpPr>
        <p:spPr>
          <a:xfrm>
            <a:off x="4709160" y="2578608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FastAPI backend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/api/chat (SSE) · /v1/chat/completions · avtomatlaşdırma</a:t>
            </a:r>
            <a:endParaRPr lang="en-US" sz="1600" dirty="0"/>
          </a:p>
        </p:txBody>
      </p:sp>
      <p:sp>
        <p:nvSpPr>
          <p:cNvPr id="11" name="anim_a3"/>
          <p:cNvSpPr/>
          <p:nvPr/>
        </p:nvSpPr>
        <p:spPr>
          <a:xfrm>
            <a:off x="8549640" y="1325880"/>
            <a:ext cx="3017520" cy="1051560"/>
          </a:xfrm>
          <a:prstGeom prst="roundRect">
            <a:avLst>
              <a:gd name="adj" fmla="val 15652"/>
            </a:avLst>
          </a:prstGeom>
          <a:solidFill>
            <a:schemeClr val="bg1"/>
          </a:solidFill>
          <a:ln w="22225">
            <a:solidFill>
              <a:schemeClr val="accent1"/>
            </a:solidFill>
            <a:prstDash val="solid"/>
          </a:ln>
          <a:effectLst>
            <a:outerShdw sx="100000" sy="100000" kx="0" ky="0" algn="bl" rotWithShape="0" blurRad="228600" dist="76200" dir="5400000">
              <a:srgbClr val="0F2A33">
                <a:alpha val="18000"/>
              </a:srgbClr>
            </a:outerShdw>
          </a:effectLst>
        </p:spPr>
      </p:sp>
      <p:sp>
        <p:nvSpPr>
          <p:cNvPr id="12" name="anim_a3_t"/>
          <p:cNvSpPr txBox="1"/>
          <p:nvPr/>
        </p:nvSpPr>
        <p:spPr>
          <a:xfrm>
            <a:off x="8686800" y="1435608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Gemma 4 26B MoE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Gemini API · function calling · vision</a:t>
            </a:r>
            <a:endParaRPr lang="en-US" sz="1600" dirty="0"/>
          </a:p>
        </p:txBody>
      </p:sp>
      <p:sp>
        <p:nvSpPr>
          <p:cNvPr id="13" name="anim_a4"/>
          <p:cNvSpPr/>
          <p:nvPr/>
        </p:nvSpPr>
        <p:spPr>
          <a:xfrm>
            <a:off x="8549640" y="2606040"/>
            <a:ext cx="3017520" cy="914400"/>
          </a:xfrm>
          <a:prstGeom prst="roundRect">
            <a:avLst>
              <a:gd name="adj" fmla="val 18000"/>
            </a:avLst>
          </a:prstGeom>
          <a:solidFill>
            <a:schemeClr val="bg1"/>
          </a:solidFill>
          <a:ln w="22225">
            <a:solidFill>
              <a:schemeClr val="accent3"/>
            </a:solidFill>
            <a:prstDash val="solid"/>
          </a:ln>
          <a:effectLst>
            <a:outerShdw sx="100000" sy="100000" kx="0" ky="0" algn="bl" rotWithShape="0" blurRad="228600" dist="76200" dir="5400000">
              <a:srgbClr val="0F2A33">
                <a:alpha val="18000"/>
              </a:srgbClr>
            </a:outerShdw>
          </a:effectLst>
        </p:spPr>
      </p:sp>
      <p:sp>
        <p:nvSpPr>
          <p:cNvPr id="14" name="anim_a4_t"/>
          <p:cNvSpPr txBox="1"/>
          <p:nvPr/>
        </p:nvSpPr>
        <p:spPr>
          <a:xfrm>
            <a:off x="8686800" y="271576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Gemma 4 E4B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Ollama · lokal ehtiyat (429 olanda)</a:t>
            </a:r>
            <a:endParaRPr lang="en-US" sz="1600" dirty="0"/>
          </a:p>
        </p:txBody>
      </p:sp>
      <p:sp>
        <p:nvSpPr>
          <p:cNvPr id="15" name="anim_a5"/>
          <p:cNvSpPr/>
          <p:nvPr/>
        </p:nvSpPr>
        <p:spPr>
          <a:xfrm>
            <a:off x="8549640" y="3749040"/>
            <a:ext cx="3017520" cy="1051560"/>
          </a:xfrm>
          <a:prstGeom prst="roundRect">
            <a:avLst>
              <a:gd name="adj" fmla="val 15652"/>
            </a:avLst>
          </a:prstGeom>
          <a:solidFill>
            <a:schemeClr val="bg1"/>
          </a:solidFill>
          <a:ln w="222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228600" dist="76200" dir="5400000">
              <a:srgbClr val="0F2A33">
                <a:alpha val="18000"/>
              </a:srgbClr>
            </a:outerShdw>
          </a:effectLst>
        </p:spPr>
      </p:sp>
      <p:sp>
        <p:nvSpPr>
          <p:cNvPr id="16" name="anim_a5_t"/>
          <p:cNvSpPr txBox="1"/>
          <p:nvPr/>
        </p:nvSpPr>
        <p:spPr>
          <a:xfrm>
            <a:off x="8686800" y="3858768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Neon Postgres + pgvector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müştəri, sifariş, qaytarma, bilet, söhbət</a:t>
            </a:r>
            <a:endParaRPr lang="en-US" sz="1600" dirty="0"/>
          </a:p>
        </p:txBody>
      </p:sp>
      <p:sp>
        <p:nvSpPr>
          <p:cNvPr id="17" name="anim_a6"/>
          <p:cNvSpPr/>
          <p:nvPr/>
        </p:nvSpPr>
        <p:spPr>
          <a:xfrm>
            <a:off x="4572000" y="4617720"/>
            <a:ext cx="3017520" cy="914400"/>
          </a:xfrm>
          <a:prstGeom prst="roundRect">
            <a:avLst>
              <a:gd name="adj" fmla="val 18000"/>
            </a:avLst>
          </a:prstGeom>
          <a:solidFill>
            <a:schemeClr val="bg1"/>
          </a:solidFill>
          <a:ln w="222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228600" dist="76200" dir="5400000">
              <a:srgbClr val="0F2A33">
                <a:alpha val="18000"/>
              </a:srgbClr>
            </a:outerShdw>
          </a:effectLst>
        </p:spPr>
      </p:sp>
      <p:sp>
        <p:nvSpPr>
          <p:cNvPr id="18" name="anim_a6_t"/>
          <p:cNvSpPr txBox="1"/>
          <p:nvPr/>
        </p:nvSpPr>
        <p:spPr>
          <a:xfrm>
            <a:off x="4709160" y="472744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EmbeddingGemma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lokal RAG · 768-dim</a:t>
            </a:r>
            <a:endParaRPr lang="en-US" sz="1600" dirty="0"/>
          </a:p>
        </p:txBody>
      </p:sp>
      <p:sp>
        <p:nvSpPr>
          <p:cNvPr id="19" name="anim_l0"/>
          <p:cNvSpPr/>
          <p:nvPr/>
        </p:nvSpPr>
        <p:spPr>
          <a:xfrm>
            <a:off x="3566160" y="2103120"/>
            <a:ext cx="1005840" cy="73152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0" name="anim_l1"/>
          <p:cNvSpPr/>
          <p:nvPr/>
        </p:nvSpPr>
        <p:spPr>
          <a:xfrm flipV="1">
            <a:off x="3566160" y="3291840"/>
            <a:ext cx="1005840" cy="64008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1" name="anim_l2"/>
          <p:cNvSpPr/>
          <p:nvPr/>
        </p:nvSpPr>
        <p:spPr>
          <a:xfrm>
            <a:off x="2103120" y="2651760"/>
            <a:ext cx="914" cy="73152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2" name="anim_l3"/>
          <p:cNvSpPr/>
          <p:nvPr/>
        </p:nvSpPr>
        <p:spPr>
          <a:xfrm flipV="1">
            <a:off x="7589520" y="1874520"/>
            <a:ext cx="960120" cy="86868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3" name="anim_l4"/>
          <p:cNvSpPr/>
          <p:nvPr/>
        </p:nvSpPr>
        <p:spPr>
          <a:xfrm>
            <a:off x="7589520" y="3063240"/>
            <a:ext cx="960120" cy="914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4" name="anim_l5"/>
          <p:cNvSpPr/>
          <p:nvPr/>
        </p:nvSpPr>
        <p:spPr>
          <a:xfrm>
            <a:off x="7589520" y="3383280"/>
            <a:ext cx="960120" cy="86868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5" name="anim_l6"/>
          <p:cNvSpPr/>
          <p:nvPr/>
        </p:nvSpPr>
        <p:spPr>
          <a:xfrm>
            <a:off x="6080760" y="3657600"/>
            <a:ext cx="914" cy="96012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6" name="anim_l7"/>
          <p:cNvSpPr/>
          <p:nvPr/>
        </p:nvSpPr>
        <p:spPr>
          <a:xfrm flipV="1">
            <a:off x="7589520" y="4526280"/>
            <a:ext cx="960120" cy="54864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orbA" descr="/home/ali/Desktop/team-Chill/deck/assets/orb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097280" y="-1005840"/>
            <a:ext cx="2743200" cy="2743200"/>
          </a:xfrm>
          <a:prstGeom prst="rect">
            <a:avLst/>
          </a:prstGeom>
        </p:spPr>
      </p:pic>
      <p:pic>
        <p:nvPicPr>
          <p:cNvPr id="3" name="!!orbB" descr="/home/ali/Desktop/team-Chill/deck/assets/orb-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5120640"/>
            <a:ext cx="2377440" cy="237744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1" type="title" hasCustomPrompt="1"/>
          </p:nvPr>
        </p:nvSpPr>
        <p:spPr>
          <a:xfrm>
            <a:off x="640080" y="3657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Öz modelimizi öyrətdik: Unsloth QLoRA</a:t>
            </a:r>
            <a:endParaRPr lang="en-US" sz="3600" dirty="0"/>
          </a:p>
        </p:txBody>
      </p:sp>
      <p:sp>
        <p:nvSpPr>
          <p:cNvPr id="5" name="anim_st0"/>
          <p:cNvSpPr/>
          <p:nvPr/>
        </p:nvSpPr>
        <p:spPr>
          <a:xfrm>
            <a:off x="685800" y="1417320"/>
            <a:ext cx="2606040" cy="1600200"/>
          </a:xfrm>
          <a:prstGeom prst="roundRect">
            <a:avLst>
              <a:gd name="adj" fmla="val 12571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bg1">
                <a:alpha val="30000"/>
              </a:schemeClr>
            </a:solidFill>
            <a:prstDash val="solid"/>
          </a:ln>
        </p:spPr>
      </p:sp>
      <p:sp>
        <p:nvSpPr>
          <p:cNvPr id="6" name="anim_sv0"/>
          <p:cNvSpPr txBox="1"/>
          <p:nvPr/>
        </p:nvSpPr>
        <p:spPr>
          <a:xfrm>
            <a:off x="960120" y="15544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4"/>
                </a:solidFill>
              </a:rPr>
              <a:t>229</a:t>
            </a:r>
            <a:endParaRPr lang="en-US" sz="4400" dirty="0"/>
          </a:p>
        </p:txBody>
      </p:sp>
      <p:sp>
        <p:nvSpPr>
          <p:cNvPr id="7" name="anim_sl0"/>
          <p:cNvSpPr txBox="1"/>
          <p:nvPr/>
        </p:nvSpPr>
        <p:spPr>
          <a:xfrm>
            <a:off x="960120" y="23774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etiketli Azərbaycanca söhbət</a:t>
            </a:r>
            <a:endParaRPr lang="en-US" sz="1300" dirty="0"/>
          </a:p>
        </p:txBody>
      </p:sp>
      <p:sp>
        <p:nvSpPr>
          <p:cNvPr id="8" name="anim_st1"/>
          <p:cNvSpPr/>
          <p:nvPr/>
        </p:nvSpPr>
        <p:spPr>
          <a:xfrm>
            <a:off x="3520440" y="1417320"/>
            <a:ext cx="2606040" cy="1600200"/>
          </a:xfrm>
          <a:prstGeom prst="roundRect">
            <a:avLst>
              <a:gd name="adj" fmla="val 12571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bg1">
                <a:alpha val="30000"/>
              </a:schemeClr>
            </a:solidFill>
            <a:prstDash val="solid"/>
          </a:ln>
        </p:spPr>
      </p:sp>
      <p:sp>
        <p:nvSpPr>
          <p:cNvPr id="9" name="anim_sv1"/>
          <p:cNvSpPr txBox="1"/>
          <p:nvPr/>
        </p:nvSpPr>
        <p:spPr>
          <a:xfrm>
            <a:off x="3794760" y="15544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4"/>
                </a:solidFill>
              </a:rPr>
              <a:t>1B</a:t>
            </a:r>
            <a:endParaRPr lang="en-US" sz="4400" dirty="0"/>
          </a:p>
        </p:txBody>
      </p:sp>
      <p:sp>
        <p:nvSpPr>
          <p:cNvPr id="10" name="anim_sl1"/>
          <p:cNvSpPr txBox="1"/>
          <p:nvPr/>
        </p:nvSpPr>
        <p:spPr>
          <a:xfrm>
            <a:off x="3794760" y="23774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parametr — Gemma 3 1B (4-bit)</a:t>
            </a:r>
            <a:endParaRPr lang="en-US" sz="1300" dirty="0"/>
          </a:p>
        </p:txBody>
      </p:sp>
      <p:sp>
        <p:nvSpPr>
          <p:cNvPr id="11" name="anim_st2"/>
          <p:cNvSpPr/>
          <p:nvPr/>
        </p:nvSpPr>
        <p:spPr>
          <a:xfrm>
            <a:off x="6355080" y="1417320"/>
            <a:ext cx="2606040" cy="1600200"/>
          </a:xfrm>
          <a:prstGeom prst="roundRect">
            <a:avLst>
              <a:gd name="adj" fmla="val 12571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bg1">
                <a:alpha val="30000"/>
              </a:schemeClr>
            </a:solidFill>
            <a:prstDash val="solid"/>
          </a:ln>
        </p:spPr>
      </p:sp>
      <p:sp>
        <p:nvSpPr>
          <p:cNvPr id="12" name="anim_sv2"/>
          <p:cNvSpPr txBox="1"/>
          <p:nvPr/>
        </p:nvSpPr>
        <p:spPr>
          <a:xfrm>
            <a:off x="6629400" y="15544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4"/>
                </a:solidFill>
              </a:rPr>
              <a:t>8 GB</a:t>
            </a:r>
            <a:endParaRPr lang="en-US" sz="4400" dirty="0"/>
          </a:p>
        </p:txBody>
      </p:sp>
      <p:sp>
        <p:nvSpPr>
          <p:cNvPr id="13" name="anim_sl2"/>
          <p:cNvSpPr txBox="1"/>
          <p:nvPr/>
        </p:nvSpPr>
        <p:spPr>
          <a:xfrm>
            <a:off x="6629400" y="23774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noutbuk GPU (RTX 4070)</a:t>
            </a:r>
            <a:endParaRPr lang="en-US" sz="1300" dirty="0"/>
          </a:p>
        </p:txBody>
      </p:sp>
      <p:sp>
        <p:nvSpPr>
          <p:cNvPr id="14" name="anim_st3"/>
          <p:cNvSpPr/>
          <p:nvPr/>
        </p:nvSpPr>
        <p:spPr>
          <a:xfrm>
            <a:off x="9189720" y="1417320"/>
            <a:ext cx="2606040" cy="1600200"/>
          </a:xfrm>
          <a:prstGeom prst="roundRect">
            <a:avLst>
              <a:gd name="adj" fmla="val 12571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bg1">
                <a:alpha val="30000"/>
              </a:schemeClr>
            </a:solidFill>
            <a:prstDash val="solid"/>
          </a:ln>
        </p:spPr>
      </p:sp>
      <p:sp>
        <p:nvSpPr>
          <p:cNvPr id="15" name="anim_sv3"/>
          <p:cNvSpPr txBox="1"/>
          <p:nvPr/>
        </p:nvSpPr>
        <p:spPr>
          <a:xfrm>
            <a:off x="9464040" y="15544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3"/>
                </a:solidFill>
              </a:rPr>
              <a:t>284 s</a:t>
            </a:r>
            <a:endParaRPr lang="en-US" sz="4400" dirty="0"/>
          </a:p>
        </p:txBody>
      </p:sp>
      <p:sp>
        <p:nvSpPr>
          <p:cNvPr id="16" name="anim_sl3"/>
          <p:cNvSpPr txBox="1"/>
          <p:nvPr/>
        </p:nvSpPr>
        <p:spPr>
          <a:xfrm>
            <a:off x="9464040" y="23774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train müddəti</a:t>
            </a:r>
            <a:endParaRPr lang="en-US" sz="1300" dirty="0"/>
          </a:p>
        </p:txBody>
      </p:sp>
      <p:sp>
        <p:nvSpPr>
          <p:cNvPr id="17" name="anim_pi0_bg"/>
          <p:cNvSpPr/>
          <p:nvPr/>
        </p:nvSpPr>
        <p:spPr>
          <a:xfrm>
            <a:off x="685800" y="34290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anim_pi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524" y="3553724"/>
            <a:ext cx="317480" cy="317480"/>
          </a:xfrm>
          <a:prstGeom prst="rect">
            <a:avLst/>
          </a:prstGeom>
        </p:spPr>
      </p:pic>
      <p:sp>
        <p:nvSpPr>
          <p:cNvPr id="19" name="anim_ph0"/>
          <p:cNvSpPr txBox="1"/>
          <p:nvPr/>
        </p:nvSpPr>
        <p:spPr>
          <a:xfrm>
            <a:off x="1417320" y="3474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 · Data</a:t>
            </a:r>
            <a:endParaRPr lang="en-US" sz="2000" dirty="0"/>
          </a:p>
        </p:txBody>
      </p:sp>
      <p:sp>
        <p:nvSpPr>
          <p:cNvPr id="20" name="anim_pp0"/>
          <p:cNvSpPr txBox="1"/>
          <p:nvPr/>
        </p:nvSpPr>
        <p:spPr>
          <a:xfrm>
            <a:off x="685800" y="4160520"/>
            <a:ext cx="3474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Etiketləri əvvəlcə seçirik (7 kateqoriya × 3 təcililik × 3 emosiya, 12 məhsul, 6 müştəri üslubu), Gemma 4 26B onlara uyğun söhbət yazır. Ground truth dəqiqdir.</a:t>
            </a:r>
            <a:endParaRPr lang="en-US" sz="1300" dirty="0"/>
          </a:p>
        </p:txBody>
      </p:sp>
      <p:sp>
        <p:nvSpPr>
          <p:cNvPr id="21" name="anim_pi1_bg"/>
          <p:cNvSpPr/>
          <p:nvPr/>
        </p:nvSpPr>
        <p:spPr>
          <a:xfrm>
            <a:off x="4462272" y="3429000"/>
            <a:ext cx="566928" cy="56692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2" name="anim_pi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6996" y="3553724"/>
            <a:ext cx="317480" cy="317480"/>
          </a:xfrm>
          <a:prstGeom prst="rect">
            <a:avLst/>
          </a:prstGeom>
        </p:spPr>
      </p:pic>
      <p:sp>
        <p:nvSpPr>
          <p:cNvPr id="23" name="anim_ph1"/>
          <p:cNvSpPr txBox="1"/>
          <p:nvPr/>
        </p:nvSpPr>
        <p:spPr>
          <a:xfrm>
            <a:off x="5193792" y="3474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 · Train</a:t>
            </a:r>
            <a:endParaRPr lang="en-US" sz="2000" dirty="0"/>
          </a:p>
        </p:txBody>
      </p:sp>
      <p:sp>
        <p:nvSpPr>
          <p:cNvPr id="24" name="anim_pp1"/>
          <p:cNvSpPr txBox="1"/>
          <p:nvPr/>
        </p:nvSpPr>
        <p:spPr>
          <a:xfrm>
            <a:off x="4462272" y="4160520"/>
            <a:ext cx="3474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Unsloth QLoRA, rank 16, yalnız JSON cavab üzərində loss. Kiçik model bizim etiket qaydalarımızı öyrənir.</a:t>
            </a:r>
            <a:endParaRPr lang="en-US" sz="1300" dirty="0"/>
          </a:p>
        </p:txBody>
      </p:sp>
      <p:sp>
        <p:nvSpPr>
          <p:cNvPr id="25" name="anim_pi2_bg"/>
          <p:cNvSpPr/>
          <p:nvPr/>
        </p:nvSpPr>
        <p:spPr>
          <a:xfrm>
            <a:off x="8238744" y="34290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anim_pi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3468" y="3553724"/>
            <a:ext cx="317480" cy="317480"/>
          </a:xfrm>
          <a:prstGeom prst="rect">
            <a:avLst/>
          </a:prstGeom>
        </p:spPr>
      </p:pic>
      <p:sp>
        <p:nvSpPr>
          <p:cNvPr id="27" name="anim_ph2"/>
          <p:cNvSpPr txBox="1"/>
          <p:nvPr/>
        </p:nvSpPr>
        <p:spPr>
          <a:xfrm>
            <a:off x="8970264" y="3474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 · Eval</a:t>
            </a:r>
            <a:endParaRPr lang="en-US" sz="2000" dirty="0"/>
          </a:p>
        </p:txBody>
      </p:sp>
      <p:sp>
        <p:nvSpPr>
          <p:cNvPr id="28" name="anim_pp2"/>
          <p:cNvSpPr txBox="1"/>
          <p:nvPr/>
        </p:nvSpPr>
        <p:spPr>
          <a:xfrm>
            <a:off x="8238744" y="4160520"/>
            <a:ext cx="3474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40 gizli test söhbəti: base 1B vs fine-tuned 1B vs Gemma 4 26B. Hər sahə ayrıca ölçülür.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orbA" descr="/home/ali/Desktop/team-Chill/deck/assets/orb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-822960"/>
            <a:ext cx="2011680" cy="2011680"/>
          </a:xfrm>
          <a:prstGeom prst="rect">
            <a:avLst/>
          </a:prstGeom>
        </p:spPr>
      </p:pic>
      <p:pic>
        <p:nvPicPr>
          <p:cNvPr id="3" name="!!orbB" descr="/home/ali/Desktop/team-Chill/deck/assets/orb-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5760720"/>
            <a:ext cx="1554480" cy="155448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1" type="title" hasCustomPrompt="1"/>
          </p:nvPr>
        </p:nvSpPr>
        <p:spPr>
          <a:xfrm>
            <a:off x="640080" y="3657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Nəticə: kiçik model, böyük fərq</a:t>
            </a:r>
            <a:endParaRPr lang="en-US" sz="3600" dirty="0"/>
          </a:p>
        </p:txBody>
      </p:sp>
      <p:graphicFrame>
        <p:nvGraphicFramePr>
          <p:cNvPr id="5" name="anim_chart" descr=""/>
          <p:cNvGraphicFramePr/>
          <p:nvPr/>
        </p:nvGraphicFramePr>
        <p:xfrm>
          <a:off x="548640" y="1325880"/>
          <a:ext cx="768096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anim_cc0"/>
          <p:cNvSpPr/>
          <p:nvPr/>
        </p:nvSpPr>
        <p:spPr>
          <a:xfrm>
            <a:off x="8549640" y="1371600"/>
            <a:ext cx="3017520" cy="1371600"/>
          </a:xfrm>
          <a:prstGeom prst="roundRect">
            <a:avLst>
              <a:gd name="adj" fmla="val 14667"/>
            </a:avLst>
          </a:prstGeom>
          <a:solidFill>
            <a:schemeClr val="bg1">
              <a:alpha val="65000"/>
            </a:schemeClr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228600" dist="76200" dir="5400000">
              <a:srgbClr val="0F2A33">
                <a:alpha val="18000"/>
              </a:srgbClr>
            </a:outerShdw>
          </a:effectLst>
        </p:spPr>
      </p:sp>
      <p:sp>
        <p:nvSpPr>
          <p:cNvPr id="7" name="anim_cv0"/>
          <p:cNvSpPr txBox="1"/>
          <p:nvPr/>
        </p:nvSpPr>
        <p:spPr>
          <a:xfrm>
            <a:off x="8778240" y="146304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61</a:t>
            </a:r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%</a:t>
            </a:r>
            <a:endParaRPr lang="en-US" sz="4400" dirty="0"/>
          </a:p>
        </p:txBody>
      </p:sp>
      <p:sp>
        <p:nvSpPr>
          <p:cNvPr id="8" name="anim_cl0"/>
          <p:cNvSpPr txBox="1"/>
          <p:nvPr/>
        </p:nvSpPr>
        <p:spPr>
          <a:xfrm>
            <a:off x="8778240" y="22402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fine-tuned 1B orta dəqiqlik</a:t>
            </a:r>
            <a:endParaRPr lang="en-US" sz="1300" dirty="0"/>
          </a:p>
        </p:txBody>
      </p:sp>
      <p:sp>
        <p:nvSpPr>
          <p:cNvPr id="9" name="anim_cc1"/>
          <p:cNvSpPr/>
          <p:nvPr/>
        </p:nvSpPr>
        <p:spPr>
          <a:xfrm>
            <a:off x="8549640" y="2971800"/>
            <a:ext cx="3017520" cy="1371600"/>
          </a:xfrm>
          <a:prstGeom prst="roundRect">
            <a:avLst>
              <a:gd name="adj" fmla="val 14667"/>
            </a:avLst>
          </a:prstGeom>
          <a:solidFill>
            <a:schemeClr val="bg1">
              <a:alpha val="65000"/>
            </a:schemeClr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228600" dist="76200" dir="5400000">
              <a:srgbClr val="0F2A33">
                <a:alpha val="18000"/>
              </a:srgbClr>
            </a:outerShdw>
          </a:effectLst>
        </p:spPr>
      </p:sp>
      <p:sp>
        <p:nvSpPr>
          <p:cNvPr id="10" name="anim_cv1"/>
          <p:cNvSpPr txBox="1"/>
          <p:nvPr/>
        </p:nvSpPr>
        <p:spPr>
          <a:xfrm>
            <a:off x="8778240" y="306324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5"/>
                </a:solidFill>
              </a:rPr>
              <a:t>30</a:t>
            </a:r>
            <a:pPr indent="0" marL="0">
              <a:buNone/>
            </a:pPr>
            <a:r>
              <a:rPr lang="en-US" sz="2200" b="1" dirty="0">
                <a:solidFill>
                  <a:schemeClr val="accent5"/>
                </a:solidFill>
              </a:rPr>
              <a:t>%</a:t>
            </a:r>
            <a:endParaRPr lang="en-US" sz="4400" dirty="0"/>
          </a:p>
        </p:txBody>
      </p:sp>
      <p:sp>
        <p:nvSpPr>
          <p:cNvPr id="11" name="anim_cl1"/>
          <p:cNvSpPr txBox="1"/>
          <p:nvPr/>
        </p:nvSpPr>
        <p:spPr>
          <a:xfrm>
            <a:off x="8778240" y="38404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eyni model, fine-tune-suz</a:t>
            </a:r>
            <a:endParaRPr lang="en-US" sz="1300" dirty="0"/>
          </a:p>
        </p:txBody>
      </p:sp>
      <p:sp>
        <p:nvSpPr>
          <p:cNvPr id="12" name="anim_cc2"/>
          <p:cNvSpPr/>
          <p:nvPr/>
        </p:nvSpPr>
        <p:spPr>
          <a:xfrm>
            <a:off x="8549640" y="4572000"/>
            <a:ext cx="3017520" cy="1371600"/>
          </a:xfrm>
          <a:prstGeom prst="roundRect">
            <a:avLst>
              <a:gd name="adj" fmla="val 14667"/>
            </a:avLst>
          </a:prstGeom>
          <a:solidFill>
            <a:schemeClr val="bg1">
              <a:alpha val="65000"/>
            </a:schemeClr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228600" dist="76200" dir="5400000">
              <a:srgbClr val="0F2A33">
                <a:alpha val="18000"/>
              </a:srgbClr>
            </a:outerShdw>
          </a:effectLst>
        </p:spPr>
      </p:sp>
      <p:sp>
        <p:nvSpPr>
          <p:cNvPr id="13" name="anim_cv2"/>
          <p:cNvSpPr txBox="1"/>
          <p:nvPr/>
        </p:nvSpPr>
        <p:spPr>
          <a:xfrm>
            <a:off x="8778240" y="466344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3"/>
                </a:solidFill>
              </a:rPr>
              <a:t>76</a:t>
            </a:r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%</a:t>
            </a:r>
            <a:endParaRPr lang="en-US" sz="4400" dirty="0"/>
          </a:p>
        </p:txBody>
      </p:sp>
      <p:sp>
        <p:nvSpPr>
          <p:cNvPr id="14" name="anim_cl2"/>
          <p:cNvSpPr txBox="1"/>
          <p:nvPr/>
        </p:nvSpPr>
        <p:spPr>
          <a:xfrm>
            <a:off x="8778240" y="54406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Gemma 4 26B, zero-shot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orbA" descr="/home/ali/Desktop/team-Chill/deck/assets/orb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914400" y="3108960"/>
            <a:ext cx="2011680" cy="2011680"/>
          </a:xfrm>
          <a:prstGeom prst="rect">
            <a:avLst/>
          </a:prstGeom>
        </p:spPr>
      </p:pic>
      <p:pic>
        <p:nvPicPr>
          <p:cNvPr id="3" name="!!orbB" descr="/home/ali/Desktop/team-Chill/deck/assets/orb-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5394960"/>
            <a:ext cx="1828800" cy="182880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1" type="title" hasCustomPrompt="1"/>
          </p:nvPr>
        </p:nvSpPr>
        <p:spPr>
          <a:xfrm>
            <a:off x="640080" y="3657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Hamısı açıq</a:t>
            </a:r>
            <a:endParaRPr lang="en-US" sz="3600" dirty="0"/>
          </a:p>
        </p:txBody>
      </p:sp>
      <p:sp>
        <p:nvSpPr>
          <p:cNvPr id="5" name="anim_os0"/>
          <p:cNvSpPr/>
          <p:nvPr/>
        </p:nvSpPr>
        <p:spPr>
          <a:xfrm>
            <a:off x="640080" y="1508760"/>
            <a:ext cx="3429000" cy="1920240"/>
          </a:xfrm>
          <a:prstGeom prst="roundRect">
            <a:avLst>
              <a:gd name="adj" fmla="val 10476"/>
            </a:avLst>
          </a:prstGeom>
          <a:solidFill>
            <a:schemeClr val="bg1">
              <a:alpha val="65000"/>
            </a:schemeClr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228600" dist="76200" dir="5400000">
              <a:srgbClr val="0F2A33">
                <a:alpha val="18000"/>
              </a:srgbClr>
            </a:outerShdw>
          </a:effectLst>
        </p:spPr>
      </p:sp>
      <p:sp>
        <p:nvSpPr>
          <p:cNvPr id="6" name="anim_oi0_bg"/>
          <p:cNvSpPr/>
          <p:nvPr/>
        </p:nvSpPr>
        <p:spPr>
          <a:xfrm>
            <a:off x="960120" y="18288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anim_oi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844" y="1953524"/>
            <a:ext cx="317480" cy="317480"/>
          </a:xfrm>
          <a:prstGeom prst="rect">
            <a:avLst/>
          </a:prstGeom>
        </p:spPr>
      </p:pic>
      <p:sp>
        <p:nvSpPr>
          <p:cNvPr id="8" name="anim_oh0"/>
          <p:cNvSpPr txBox="1"/>
          <p:nvPr/>
        </p:nvSpPr>
        <p:spPr>
          <a:xfrm>
            <a:off x="1691640" y="182880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Gemma 4 26B / E4B</a:t>
            </a:r>
            <a:endParaRPr lang="en-US" sz="1800" dirty="0"/>
          </a:p>
        </p:txBody>
      </p:sp>
      <p:sp>
        <p:nvSpPr>
          <p:cNvPr id="9" name="anim_op0"/>
          <p:cNvSpPr txBox="1"/>
          <p:nvPr/>
        </p:nvSpPr>
        <p:spPr>
          <a:xfrm>
            <a:off x="960120" y="253288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Agent, vision, analiz</a:t>
            </a:r>
            <a:endParaRPr lang="en-US" sz="1300" dirty="0"/>
          </a:p>
        </p:txBody>
      </p:sp>
      <p:sp>
        <p:nvSpPr>
          <p:cNvPr id="10" name="anim_ol0"/>
          <p:cNvSpPr txBox="1"/>
          <p:nvPr/>
        </p:nvSpPr>
        <p:spPr>
          <a:xfrm>
            <a:off x="960120" y="289864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Apache 2.0</a:t>
            </a:r>
            <a:endParaRPr lang="en-US" sz="1200" dirty="0"/>
          </a:p>
        </p:txBody>
      </p:sp>
      <p:sp>
        <p:nvSpPr>
          <p:cNvPr id="11" name="anim_os1"/>
          <p:cNvSpPr/>
          <p:nvPr/>
        </p:nvSpPr>
        <p:spPr>
          <a:xfrm>
            <a:off x="4343400" y="1508760"/>
            <a:ext cx="3429000" cy="1920240"/>
          </a:xfrm>
          <a:prstGeom prst="roundRect">
            <a:avLst>
              <a:gd name="adj" fmla="val 10476"/>
            </a:avLst>
          </a:prstGeom>
          <a:solidFill>
            <a:schemeClr val="bg1">
              <a:alpha val="65000"/>
            </a:schemeClr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228600" dist="76200" dir="5400000">
              <a:srgbClr val="0F2A33">
                <a:alpha val="18000"/>
              </a:srgbClr>
            </a:outerShdw>
          </a:effectLst>
        </p:spPr>
      </p:sp>
      <p:sp>
        <p:nvSpPr>
          <p:cNvPr id="12" name="anim_oi1_bg"/>
          <p:cNvSpPr/>
          <p:nvPr/>
        </p:nvSpPr>
        <p:spPr>
          <a:xfrm>
            <a:off x="4663440" y="18288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anim_oi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8164" y="1953524"/>
            <a:ext cx="317480" cy="317480"/>
          </a:xfrm>
          <a:prstGeom prst="rect">
            <a:avLst/>
          </a:prstGeom>
        </p:spPr>
      </p:pic>
      <p:sp>
        <p:nvSpPr>
          <p:cNvPr id="14" name="anim_oh1"/>
          <p:cNvSpPr txBox="1"/>
          <p:nvPr/>
        </p:nvSpPr>
        <p:spPr>
          <a:xfrm>
            <a:off x="5394960" y="182880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EmbeddingGemma</a:t>
            </a:r>
            <a:endParaRPr lang="en-US" sz="1800" dirty="0"/>
          </a:p>
        </p:txBody>
      </p:sp>
      <p:sp>
        <p:nvSpPr>
          <p:cNvPr id="15" name="anim_op1"/>
          <p:cNvSpPr txBox="1"/>
          <p:nvPr/>
        </p:nvSpPr>
        <p:spPr>
          <a:xfrm>
            <a:off x="4663440" y="253288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Lokal RAG embedding</a:t>
            </a:r>
            <a:endParaRPr lang="en-US" sz="1300" dirty="0"/>
          </a:p>
        </p:txBody>
      </p:sp>
      <p:sp>
        <p:nvSpPr>
          <p:cNvPr id="16" name="anim_ol1"/>
          <p:cNvSpPr txBox="1"/>
          <p:nvPr/>
        </p:nvSpPr>
        <p:spPr>
          <a:xfrm>
            <a:off x="4663440" y="289864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Gemma Terms</a:t>
            </a:r>
            <a:endParaRPr lang="en-US" sz="1200" dirty="0"/>
          </a:p>
        </p:txBody>
      </p:sp>
      <p:sp>
        <p:nvSpPr>
          <p:cNvPr id="17" name="anim_os2"/>
          <p:cNvSpPr/>
          <p:nvPr/>
        </p:nvSpPr>
        <p:spPr>
          <a:xfrm>
            <a:off x="8046720" y="1508760"/>
            <a:ext cx="3429000" cy="1920240"/>
          </a:xfrm>
          <a:prstGeom prst="roundRect">
            <a:avLst>
              <a:gd name="adj" fmla="val 10476"/>
            </a:avLst>
          </a:prstGeom>
          <a:solidFill>
            <a:schemeClr val="bg1">
              <a:alpha val="65000"/>
            </a:schemeClr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228600" dist="76200" dir="5400000">
              <a:srgbClr val="0F2A33">
                <a:alpha val="18000"/>
              </a:srgbClr>
            </a:outerShdw>
          </a:effectLst>
        </p:spPr>
      </p:sp>
      <p:sp>
        <p:nvSpPr>
          <p:cNvPr id="18" name="anim_oi2_bg"/>
          <p:cNvSpPr/>
          <p:nvPr/>
        </p:nvSpPr>
        <p:spPr>
          <a:xfrm>
            <a:off x="8366760" y="18288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anim_oi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1484" y="1953524"/>
            <a:ext cx="317480" cy="317480"/>
          </a:xfrm>
          <a:prstGeom prst="rect">
            <a:avLst/>
          </a:prstGeom>
        </p:spPr>
      </p:pic>
      <p:sp>
        <p:nvSpPr>
          <p:cNvPr id="20" name="anim_oh2"/>
          <p:cNvSpPr txBox="1"/>
          <p:nvPr/>
        </p:nvSpPr>
        <p:spPr>
          <a:xfrm>
            <a:off x="9098280" y="182880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Gemma 3 1B + LoRA</a:t>
            </a:r>
            <a:endParaRPr lang="en-US" sz="1800" dirty="0"/>
          </a:p>
        </p:txBody>
      </p:sp>
      <p:sp>
        <p:nvSpPr>
          <p:cNvPr id="21" name="anim_op2"/>
          <p:cNvSpPr txBox="1"/>
          <p:nvPr/>
        </p:nvSpPr>
        <p:spPr>
          <a:xfrm>
            <a:off x="8366760" y="253288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Fine-tuned analitik</a:t>
            </a:r>
            <a:endParaRPr lang="en-US" sz="1300" dirty="0"/>
          </a:p>
        </p:txBody>
      </p:sp>
      <p:sp>
        <p:nvSpPr>
          <p:cNvPr id="22" name="anim_ol2"/>
          <p:cNvSpPr txBox="1"/>
          <p:nvPr/>
        </p:nvSpPr>
        <p:spPr>
          <a:xfrm>
            <a:off x="8366760" y="289864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Gemma Terms</a:t>
            </a:r>
            <a:endParaRPr lang="en-US" sz="1200" dirty="0"/>
          </a:p>
        </p:txBody>
      </p:sp>
      <p:sp>
        <p:nvSpPr>
          <p:cNvPr id="23" name="anim_os3"/>
          <p:cNvSpPr/>
          <p:nvPr/>
        </p:nvSpPr>
        <p:spPr>
          <a:xfrm>
            <a:off x="640080" y="3749040"/>
            <a:ext cx="3429000" cy="1920240"/>
          </a:xfrm>
          <a:prstGeom prst="roundRect">
            <a:avLst>
              <a:gd name="adj" fmla="val 10476"/>
            </a:avLst>
          </a:prstGeom>
          <a:solidFill>
            <a:schemeClr val="bg1">
              <a:alpha val="65000"/>
            </a:schemeClr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228600" dist="76200" dir="5400000">
              <a:srgbClr val="0F2A33">
                <a:alpha val="18000"/>
              </a:srgbClr>
            </a:outerShdw>
          </a:effectLst>
        </p:spPr>
      </p:sp>
      <p:sp>
        <p:nvSpPr>
          <p:cNvPr id="24" name="anim_oi3_bg"/>
          <p:cNvSpPr/>
          <p:nvPr/>
        </p:nvSpPr>
        <p:spPr>
          <a:xfrm>
            <a:off x="960120" y="406908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anim_oi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4844" y="4193804"/>
            <a:ext cx="317480" cy="317480"/>
          </a:xfrm>
          <a:prstGeom prst="rect">
            <a:avLst/>
          </a:prstGeom>
        </p:spPr>
      </p:pic>
      <p:sp>
        <p:nvSpPr>
          <p:cNvPr id="26" name="anim_oh3"/>
          <p:cNvSpPr txBox="1"/>
          <p:nvPr/>
        </p:nvSpPr>
        <p:spPr>
          <a:xfrm>
            <a:off x="1691640" y="406908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Unsloth · Ollama</a:t>
            </a:r>
            <a:endParaRPr lang="en-US" sz="1800" dirty="0"/>
          </a:p>
        </p:txBody>
      </p:sp>
      <p:sp>
        <p:nvSpPr>
          <p:cNvPr id="27" name="anim_op3"/>
          <p:cNvSpPr txBox="1"/>
          <p:nvPr/>
        </p:nvSpPr>
        <p:spPr>
          <a:xfrm>
            <a:off x="960120" y="477316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Train və lokal inferens</a:t>
            </a:r>
            <a:endParaRPr lang="en-US" sz="1300" dirty="0"/>
          </a:p>
        </p:txBody>
      </p:sp>
      <p:sp>
        <p:nvSpPr>
          <p:cNvPr id="28" name="anim_ol3"/>
          <p:cNvSpPr txBox="1"/>
          <p:nvPr/>
        </p:nvSpPr>
        <p:spPr>
          <a:xfrm>
            <a:off x="960120" y="513892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Apache 2.0 · MIT</a:t>
            </a:r>
            <a:endParaRPr lang="en-US" sz="1200" dirty="0"/>
          </a:p>
        </p:txBody>
      </p:sp>
      <p:sp>
        <p:nvSpPr>
          <p:cNvPr id="29" name="anim_os4"/>
          <p:cNvSpPr/>
          <p:nvPr/>
        </p:nvSpPr>
        <p:spPr>
          <a:xfrm>
            <a:off x="4343400" y="3749040"/>
            <a:ext cx="3429000" cy="1920240"/>
          </a:xfrm>
          <a:prstGeom prst="roundRect">
            <a:avLst>
              <a:gd name="adj" fmla="val 10476"/>
            </a:avLst>
          </a:prstGeom>
          <a:solidFill>
            <a:schemeClr val="bg1">
              <a:alpha val="65000"/>
            </a:schemeClr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228600" dist="76200" dir="5400000">
              <a:srgbClr val="0F2A33">
                <a:alpha val="18000"/>
              </a:srgbClr>
            </a:outerShdw>
          </a:effectLst>
        </p:spPr>
      </p:sp>
      <p:sp>
        <p:nvSpPr>
          <p:cNvPr id="30" name="anim_oi4_bg"/>
          <p:cNvSpPr/>
          <p:nvPr/>
        </p:nvSpPr>
        <p:spPr>
          <a:xfrm>
            <a:off x="4663440" y="406908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1" name="anim_oi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8164" y="4193804"/>
            <a:ext cx="317480" cy="317480"/>
          </a:xfrm>
          <a:prstGeom prst="rect">
            <a:avLst/>
          </a:prstGeom>
        </p:spPr>
      </p:pic>
      <p:sp>
        <p:nvSpPr>
          <p:cNvPr id="32" name="anim_oh4"/>
          <p:cNvSpPr txBox="1"/>
          <p:nvPr/>
        </p:nvSpPr>
        <p:spPr>
          <a:xfrm>
            <a:off x="5394960" y="406908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Neon · pgvector</a:t>
            </a:r>
            <a:endParaRPr lang="en-US" sz="1800" dirty="0"/>
          </a:p>
        </p:txBody>
      </p:sp>
      <p:sp>
        <p:nvSpPr>
          <p:cNvPr id="33" name="anim_op4"/>
          <p:cNvSpPr txBox="1"/>
          <p:nvPr/>
        </p:nvSpPr>
        <p:spPr>
          <a:xfrm>
            <a:off x="4663440" y="477316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Postgres + vektor axtarışı</a:t>
            </a:r>
            <a:endParaRPr lang="en-US" sz="1300" dirty="0"/>
          </a:p>
        </p:txBody>
      </p:sp>
      <p:sp>
        <p:nvSpPr>
          <p:cNvPr id="34" name="anim_ol4"/>
          <p:cNvSpPr txBox="1"/>
          <p:nvPr/>
        </p:nvSpPr>
        <p:spPr>
          <a:xfrm>
            <a:off x="4663440" y="513892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Apache 2.0 · PostgreSQL</a:t>
            </a:r>
            <a:endParaRPr lang="en-US" sz="1200" dirty="0"/>
          </a:p>
        </p:txBody>
      </p:sp>
      <p:sp>
        <p:nvSpPr>
          <p:cNvPr id="35" name="anim_os5"/>
          <p:cNvSpPr/>
          <p:nvPr/>
        </p:nvSpPr>
        <p:spPr>
          <a:xfrm>
            <a:off x="8046720" y="3749040"/>
            <a:ext cx="3429000" cy="1920240"/>
          </a:xfrm>
          <a:prstGeom prst="roundRect">
            <a:avLst>
              <a:gd name="adj" fmla="val 10476"/>
            </a:avLst>
          </a:prstGeom>
          <a:solidFill>
            <a:schemeClr val="bg1">
              <a:alpha val="65000"/>
            </a:schemeClr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228600" dist="76200" dir="5400000">
              <a:srgbClr val="0F2A33">
                <a:alpha val="18000"/>
              </a:srgbClr>
            </a:outerShdw>
          </a:effectLst>
        </p:spPr>
      </p:sp>
      <p:sp>
        <p:nvSpPr>
          <p:cNvPr id="36" name="anim_oi5_bg"/>
          <p:cNvSpPr/>
          <p:nvPr/>
        </p:nvSpPr>
        <p:spPr>
          <a:xfrm>
            <a:off x="8366760" y="4069080"/>
            <a:ext cx="566928" cy="56692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37" name="anim_oi5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91484" y="4193804"/>
            <a:ext cx="317480" cy="317480"/>
          </a:xfrm>
          <a:prstGeom prst="rect">
            <a:avLst/>
          </a:prstGeom>
        </p:spPr>
      </p:pic>
      <p:sp>
        <p:nvSpPr>
          <p:cNvPr id="38" name="anim_oh5"/>
          <p:cNvSpPr txBox="1"/>
          <p:nvPr/>
        </p:nvSpPr>
        <p:spPr>
          <a:xfrm>
            <a:off x="9098280" y="406908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ChillDesk kodu</a:t>
            </a:r>
            <a:endParaRPr lang="en-US" sz="1800" dirty="0"/>
          </a:p>
        </p:txBody>
      </p:sp>
      <p:sp>
        <p:nvSpPr>
          <p:cNvPr id="39" name="anim_op5"/>
          <p:cNvSpPr txBox="1"/>
          <p:nvPr/>
        </p:nvSpPr>
        <p:spPr>
          <a:xfrm>
            <a:off x="8366760" y="477316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github.com/Ducktoberfest/team-Chill</a:t>
            </a:r>
            <a:endParaRPr lang="en-US" sz="1300" dirty="0"/>
          </a:p>
        </p:txBody>
      </p:sp>
      <p:sp>
        <p:nvSpPr>
          <p:cNvPr id="40" name="anim_ol5"/>
          <p:cNvSpPr txBox="1"/>
          <p:nvPr/>
        </p:nvSpPr>
        <p:spPr>
          <a:xfrm>
            <a:off x="8366760" y="513892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MIT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orbA" descr="/home/ali/Desktop/team-Chill/deck/assets/orb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0" y="-1188720"/>
            <a:ext cx="3474720" cy="3474720"/>
          </a:xfrm>
          <a:prstGeom prst="rect">
            <a:avLst/>
          </a:prstGeom>
        </p:spPr>
      </p:pic>
      <p:pic>
        <p:nvPicPr>
          <p:cNvPr id="3" name="!!orbB" descr="/home/ali/Desktop/team-Chill/deck/assets/orb-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-914400"/>
            <a:ext cx="1828800" cy="1828800"/>
          </a:xfrm>
          <a:prstGeom prst="rect">
            <a:avLst/>
          </a:prstGeom>
        </p:spPr>
      </p:pic>
      <p:pic>
        <p:nvPicPr>
          <p:cNvPr id="4" name="Image 2" descr="/home/ali/Desktop/team-Chill/deck/assets/ripples-dark.png">    </p:cNvPr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5852160" y="1463040"/>
            <a:ext cx="6400800" cy="6400800"/>
          </a:xfrm>
          <a:prstGeom prst="rect">
            <a:avLst/>
          </a:prstGeom>
        </p:spPr>
      </p:pic>
      <p:pic>
        <p:nvPicPr>
          <p:cNvPr id="5" name="anim_logo2" descr="/home/ali/Desktop/team-Chill/deck/assets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960120"/>
            <a:ext cx="960120" cy="960120"/>
          </a:xfrm>
          <a:prstGeom prst="rect">
            <a:avLst/>
          </a:prstGeom>
        </p:spPr>
      </p:pic>
      <p:sp>
        <p:nvSpPr>
          <p:cNvPr id="6" name="Text 0"/>
          <p:cNvSpPr/>
          <p:nvPr>
            <p:ph idx="100" type="title" hasCustomPrompt="1"/>
          </p:nvPr>
        </p:nvSpPr>
        <p:spPr>
          <a:xfrm>
            <a:off x="731520" y="214884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Təşəkkürlər!</a:t>
            </a:r>
            <a:endParaRPr lang="en-US" sz="6000" dirty="0"/>
          </a:p>
        </p:txBody>
      </p:sp>
      <p:sp>
        <p:nvSpPr>
          <p:cNvPr id="7" name="Text 0"/>
          <p:cNvSpPr/>
          <p:nvPr>
            <p:ph idx="101" type="body" hasCustomPrompt="1"/>
          </p:nvPr>
        </p:nvSpPr>
        <p:spPr>
          <a:xfrm>
            <a:off x="731520" y="342900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İndi Aysuya zəng edək.</a:t>
            </a:r>
            <a:endParaRPr lang="en-US" sz="2200" dirty="0"/>
          </a:p>
        </p:txBody>
      </p:sp>
      <p:sp>
        <p:nvSpPr>
          <p:cNvPr id="8" name="anim_repo"/>
          <p:cNvSpPr txBox="1"/>
          <p:nvPr/>
        </p:nvSpPr>
        <p:spPr>
          <a:xfrm>
            <a:off x="731520" y="48006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github.com/Ducktoberfest/team-Chill</a:t>
            </a:r>
            <a:endParaRPr lang="en-US" sz="2000" dirty="0"/>
          </a:p>
        </p:txBody>
      </p:sp>
      <p:sp>
        <p:nvSpPr>
          <p:cNvPr id="9" name="anim_team2"/>
          <p:cNvSpPr txBox="1"/>
          <p:nvPr/>
        </p:nvSpPr>
        <p:spPr>
          <a:xfrm>
            <a:off x="731520" y="59893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team-Chill · Ducktoberfest Baku 2026</a:t>
            </a:r>
            <a:endParaRPr lang="en-US" sz="1400" dirty="0"/>
          </a:p>
        </p:txBody>
      </p:sp>
      <p:pic>
        <p:nvPicPr>
          <p:cNvPr id="10" name="anim_ring2" descr="/home/ali/Desktop/team-Chill/deck/assets/04-call-ringing-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0" y="640080"/>
            <a:ext cx="3108960" cy="491041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Mallard">
  <a:themeElements>
    <a:clrScheme name="Mallard">
      <a:dk1>
        <a:srgbClr val="10242B"/>
      </a:dk1>
      <a:lt1>
        <a:srgbClr val="FFFFFF"/>
      </a:lt1>
      <a:dk2>
        <a:srgbClr val="0F2A33"/>
      </a:dk2>
      <a:lt2>
        <a:srgbClr val="F6F2EA"/>
      </a:lt2>
      <a:accent1>
        <a:srgbClr val="0B7A5C"/>
      </a:accent1>
      <a:accent2>
        <a:srgbClr val="14B8A6"/>
      </a:accent2>
      <a:accent3>
        <a:srgbClr val="F97316"/>
      </a:accent3>
      <a:accent4>
        <a:srgbClr val="16C79A"/>
      </a:accent4>
      <a:accent5>
        <a:srgbClr val="5F6D6B"/>
      </a:accent5>
      <a:accent6>
        <a:srgbClr val="FDBA4D"/>
      </a:accent6>
      <a:hlink>
        <a:srgbClr val="0B7A5C"/>
      </a:hlink>
      <a:folHlink>
        <a:srgbClr val="14B8A6"/>
      </a:folHlink>
    </a:clrScheme>
    <a:fontScheme name="Mallard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team-Chill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ChillDesk — Gemma 4 AI support agent</dc:title>
  <dc:subject>PptxGenJS Presentation</dc:subject>
  <dc:creator>team-Chill</dc:creator>
  <cp:lastModifiedBy>team-Chill</cp:lastModifiedBy>
  <cp:revision>1</cp:revision>
  <dcterms:created xsi:type="dcterms:W3CDTF">2026-10-11T10:43:47Z</dcterms:created>
  <dcterms:modified xsi:type="dcterms:W3CDTF">2026-10-11T10:43:47Z</dcterms:modified>
</cp:coreProperties>
</file>